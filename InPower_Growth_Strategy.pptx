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63848"/>
  </p:normalViewPr>
  <p:slideViewPr>
    <p:cSldViewPr snapToGrid="0" snapToObjects="1">
      <p:cViewPr varScale="1">
        <p:scale>
          <a:sx n="98" d="100"/>
          <a:sy n="98" d="100"/>
        </p:scale>
        <p:origin x="222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D0965-E36C-0045-BF40-402B18ADD1A9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899AD-6DE1-6E49-AD81-CAEF851818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76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[morning/afternoon], everyone. Today we’ll be presenting our </a:t>
            </a:r>
            <a:r>
              <a:rPr lang="en-US" b="1" dirty="0" err="1"/>
              <a:t>InPower</a:t>
            </a:r>
            <a:r>
              <a:rPr lang="en-US" b="1" dirty="0"/>
              <a:t> Growth Strategy</a:t>
            </a:r>
            <a:r>
              <a:rPr lang="en-US" dirty="0"/>
              <a:t>, which focuses on how </a:t>
            </a:r>
            <a:r>
              <a:rPr lang="en-US" dirty="0" err="1"/>
              <a:t>InPower</a:t>
            </a:r>
            <a:r>
              <a:rPr lang="en-US" dirty="0"/>
              <a:t> can build </a:t>
            </a:r>
            <a:r>
              <a:rPr lang="en-US" b="1" dirty="0"/>
              <a:t>long-term, sustainable competitive advantage</a:t>
            </a:r>
            <a:r>
              <a:rPr lang="en-US" dirty="0"/>
              <a:t> in the digital wellness and social empowerment space.</a:t>
            </a:r>
          </a:p>
          <a:p>
            <a:r>
              <a:rPr lang="en-US" dirty="0"/>
              <a:t>Our strategy is grounded in real </a:t>
            </a:r>
            <a:r>
              <a:rPr lang="en-US" b="1" dirty="0"/>
              <a:t>revenue data, market trends, competitor analysis, and unit economics</a:t>
            </a:r>
            <a:r>
              <a:rPr lang="en-US" dirty="0"/>
              <a:t>, and the goal was not just growth—but </a:t>
            </a:r>
            <a:r>
              <a:rPr lang="en-US" b="1" dirty="0"/>
              <a:t>defensible, scalable, and ethical growth</a:t>
            </a:r>
            <a:r>
              <a:rPr lang="en-US" dirty="0"/>
              <a:t>. Throughout this presentation, I’ll walk you through our strongest revenue driver, six strategic recommendations, and how these work together to build a durable business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51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build a strong strategy, we first had to understand </a:t>
            </a:r>
            <a:r>
              <a:rPr lang="en-US" b="1" dirty="0"/>
              <a:t>what </a:t>
            </a:r>
            <a:r>
              <a:rPr lang="en-US" b="1" dirty="0" err="1"/>
              <a:t>InPower</a:t>
            </a:r>
            <a:r>
              <a:rPr lang="en-US" b="1" dirty="0"/>
              <a:t> already does well</a:t>
            </a:r>
            <a:r>
              <a:rPr lang="en-US" dirty="0"/>
              <a:t>. </a:t>
            </a:r>
            <a:r>
              <a:rPr lang="en-US" dirty="0" err="1"/>
              <a:t>InPower</a:t>
            </a:r>
            <a:r>
              <a:rPr lang="en-US" dirty="0"/>
              <a:t> operates at the intersection of </a:t>
            </a:r>
            <a:r>
              <a:rPr lang="en-US" b="1" dirty="0"/>
              <a:t>mental wellness, emotional intelligence, and digital community</a:t>
            </a:r>
            <a:r>
              <a:rPr lang="en-US" dirty="0"/>
              <a:t>. Unlike traditional social platforms, </a:t>
            </a:r>
            <a:r>
              <a:rPr lang="en-US" dirty="0" err="1"/>
              <a:t>InPower</a:t>
            </a:r>
            <a:r>
              <a:rPr lang="en-US" dirty="0"/>
              <a:t> is purpose-driven. It combines:</a:t>
            </a:r>
          </a:p>
          <a:p>
            <a:r>
              <a:rPr lang="en-US" dirty="0"/>
              <a:t>Expert-led groups</a:t>
            </a:r>
          </a:p>
          <a:p>
            <a:r>
              <a:rPr lang="en-US" dirty="0"/>
              <a:t>AI-based emotional tools</a:t>
            </a:r>
          </a:p>
          <a:p>
            <a:r>
              <a:rPr lang="en-US" dirty="0"/>
              <a:t>Community-based learning</a:t>
            </a:r>
          </a:p>
          <a:p>
            <a:r>
              <a:rPr lang="en-US" dirty="0"/>
              <a:t>And peer support</a:t>
            </a:r>
          </a:p>
          <a:p>
            <a:r>
              <a:rPr lang="en-US" dirty="0"/>
              <a:t>This positioning allows </a:t>
            </a:r>
            <a:r>
              <a:rPr lang="en-US" dirty="0" err="1"/>
              <a:t>InPower</a:t>
            </a:r>
            <a:r>
              <a:rPr lang="en-US" dirty="0"/>
              <a:t> to compete not just with social apps, but also with </a:t>
            </a:r>
            <a:r>
              <a:rPr lang="en-US" b="1" dirty="0"/>
              <a:t>wellness platforms, therapy marketplaces, and coaching services</a:t>
            </a:r>
            <a:r>
              <a:rPr lang="en-US" dirty="0"/>
              <a:t>. That makes its strategic direction especially important—because it must defend value across multiple industries.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489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most important insights from our revenue modeling is that </a:t>
            </a:r>
            <a:r>
              <a:rPr lang="en-US" b="1" dirty="0"/>
              <a:t>1:1 Coaching alone accounts for 26.7% of total revenue</a:t>
            </a:r>
            <a:r>
              <a:rPr lang="en-US" dirty="0"/>
              <a:t>. This makes it the single largest and most important revenue stream in the business.</a:t>
            </a:r>
          </a:p>
          <a:p>
            <a:r>
              <a:rPr lang="en-US" dirty="0"/>
              <a:t>Why is this significant?</a:t>
            </a:r>
          </a:p>
          <a:p>
            <a:r>
              <a:rPr lang="en-US" dirty="0"/>
              <a:t>First, it is </a:t>
            </a:r>
            <a:r>
              <a:rPr lang="en-US" b="1" dirty="0"/>
              <a:t>high-margin</a:t>
            </a:r>
            <a:r>
              <a:rPr lang="en-US" dirty="0"/>
              <a:t> compared to digital-only tools.</a:t>
            </a:r>
            <a:br>
              <a:rPr lang="en-US" dirty="0"/>
            </a:br>
            <a:r>
              <a:rPr lang="en-US" dirty="0"/>
              <a:t>Second, it is </a:t>
            </a:r>
            <a:r>
              <a:rPr lang="en-US" b="1" dirty="0"/>
              <a:t>relationship-based</a:t>
            </a:r>
            <a:r>
              <a:rPr lang="en-US" dirty="0"/>
              <a:t>, which means users form long-term trust with therapists or coaches.</a:t>
            </a:r>
            <a:br>
              <a:rPr lang="en-US" dirty="0"/>
            </a:br>
            <a:r>
              <a:rPr lang="en-US" dirty="0"/>
              <a:t>Third, it is </a:t>
            </a:r>
            <a:r>
              <a:rPr lang="en-US" b="1" dirty="0"/>
              <a:t>hard to replicate</a:t>
            </a:r>
            <a:r>
              <a:rPr lang="en-US" dirty="0"/>
              <a:t> because quality therapists are not instantly scalable like software features.</a:t>
            </a:r>
          </a:p>
          <a:p>
            <a:r>
              <a:rPr lang="en-US" dirty="0"/>
              <a:t>This insight directly shapes our </a:t>
            </a:r>
            <a:r>
              <a:rPr lang="en-US" b="1" dirty="0"/>
              <a:t>first and most important recommendation</a:t>
            </a:r>
            <a:r>
              <a:rPr lang="en-US" dirty="0"/>
              <a:t>, which is building a competitive moat around this coaching service.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829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first recommendation is to </a:t>
            </a:r>
            <a:r>
              <a:rPr lang="en-US" b="1" dirty="0"/>
              <a:t>scale </a:t>
            </a:r>
            <a:r>
              <a:rPr lang="en-US" b="1" dirty="0" err="1"/>
              <a:t>InPower’s</a:t>
            </a:r>
            <a:r>
              <a:rPr lang="en-US" b="1" dirty="0"/>
              <a:t> strongest moat: 1:1 Coaching</a:t>
            </a:r>
            <a:r>
              <a:rPr lang="en-US" dirty="0"/>
              <a:t>.</a:t>
            </a:r>
          </a:p>
          <a:p>
            <a:r>
              <a:rPr lang="en-US" dirty="0"/>
              <a:t>Right now, </a:t>
            </a:r>
            <a:r>
              <a:rPr lang="en-US" dirty="0" err="1"/>
              <a:t>InPower’s</a:t>
            </a:r>
            <a:r>
              <a:rPr lang="en-US" dirty="0"/>
              <a:t> coaching network is still relatively small. Our strategy proposes expanding it from approximately </a:t>
            </a:r>
            <a:r>
              <a:rPr lang="en-US" b="1" dirty="0"/>
              <a:t>50 therapists to over 500 therapists within 24 months</a:t>
            </a:r>
            <a:r>
              <a:rPr lang="en-US" dirty="0"/>
              <a:t>. But this is not about rapid, careless hiring—it is about </a:t>
            </a:r>
            <a:r>
              <a:rPr lang="en-US" b="1" dirty="0"/>
              <a:t>quality-first recruitment</a:t>
            </a:r>
            <a:r>
              <a:rPr lang="en-US" dirty="0"/>
              <a:t>, focused on credentials, specialties, retention, and therapist satisfaction.</a:t>
            </a:r>
          </a:p>
          <a:p>
            <a:r>
              <a:rPr lang="en-US" dirty="0"/>
              <a:t>This creates three key advantages:</a:t>
            </a:r>
          </a:p>
          <a:p>
            <a:r>
              <a:rPr lang="en-US" b="1" dirty="0"/>
              <a:t>User lock-in</a:t>
            </a:r>
            <a:r>
              <a:rPr lang="en-US" dirty="0"/>
              <a:t> – When users build personal relationships with therapists, they are far less likely to switch platforms.</a:t>
            </a:r>
          </a:p>
          <a:p>
            <a:r>
              <a:rPr lang="en-US" b="1" dirty="0"/>
              <a:t>High switching costs</a:t>
            </a:r>
            <a:r>
              <a:rPr lang="en-US" dirty="0"/>
              <a:t> – Competing apps may offer meditation or AI tools, but they cannot replace trusted human relationships easily.</a:t>
            </a:r>
          </a:p>
          <a:p>
            <a:r>
              <a:rPr lang="en-US" b="1" dirty="0"/>
              <a:t>Brand trust</a:t>
            </a:r>
            <a:r>
              <a:rPr lang="en-US" dirty="0"/>
              <a:t> – Therapist quality directly drives platform reputation.</a:t>
            </a:r>
          </a:p>
          <a:p>
            <a:r>
              <a:rPr lang="en-US" dirty="0"/>
              <a:t>The outcome here is not just growth—it’s a </a:t>
            </a:r>
            <a:r>
              <a:rPr lang="en-US" b="1" dirty="0"/>
              <a:t>defensible market position built on trust</a:t>
            </a:r>
            <a:r>
              <a:rPr lang="en-US" dirty="0"/>
              <a:t>, not just technology.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43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second recommendation focuses on </a:t>
            </a:r>
            <a:r>
              <a:rPr lang="en-US" b="1" dirty="0"/>
              <a:t>AI economics</a:t>
            </a:r>
            <a:r>
              <a:rPr lang="en-US" dirty="0"/>
              <a:t>, which is one of the most powerful cost trends happening right now.</a:t>
            </a:r>
          </a:p>
          <a:p>
            <a:r>
              <a:rPr lang="en-US" dirty="0"/>
              <a:t>Over the past 18 months:</a:t>
            </a:r>
          </a:p>
          <a:p>
            <a:r>
              <a:rPr lang="en-US" b="1" dirty="0"/>
              <a:t>OpenAI API costs dropped nearly 90%</a:t>
            </a:r>
            <a:endParaRPr lang="en-US" dirty="0"/>
          </a:p>
          <a:p>
            <a:r>
              <a:rPr lang="en-US" dirty="0"/>
              <a:t>Industry forecasts project </a:t>
            </a:r>
            <a:r>
              <a:rPr lang="en-US" b="1" dirty="0"/>
              <a:t>15–25% annual AI cost decline</a:t>
            </a:r>
            <a:endParaRPr lang="en-US" dirty="0"/>
          </a:p>
          <a:p>
            <a:r>
              <a:rPr lang="en-US" dirty="0"/>
              <a:t>NVIDIA’s Blackwell chips showed a </a:t>
            </a:r>
            <a:r>
              <a:rPr lang="en-US" b="1" dirty="0"/>
              <a:t>25x improvement in cost performance</a:t>
            </a:r>
            <a:endParaRPr lang="en-US" dirty="0"/>
          </a:p>
          <a:p>
            <a:r>
              <a:rPr lang="en-US" dirty="0"/>
              <a:t>This is huge for </a:t>
            </a:r>
            <a:r>
              <a:rPr lang="en-US" dirty="0" err="1"/>
              <a:t>InPower</a:t>
            </a:r>
            <a:r>
              <a:rPr lang="en-US" dirty="0"/>
              <a:t> because AI powers:</a:t>
            </a:r>
          </a:p>
          <a:p>
            <a:r>
              <a:rPr lang="en-US" dirty="0"/>
              <a:t>Emotional support tools</a:t>
            </a:r>
          </a:p>
          <a:p>
            <a:r>
              <a:rPr lang="en-US" dirty="0"/>
              <a:t>Matching algorithms</a:t>
            </a:r>
          </a:p>
          <a:p>
            <a:r>
              <a:rPr lang="en-US" dirty="0"/>
              <a:t>Content moderation</a:t>
            </a:r>
          </a:p>
          <a:p>
            <a:r>
              <a:rPr lang="en-US" dirty="0"/>
              <a:t>Personalization features</a:t>
            </a:r>
          </a:p>
          <a:p>
            <a:r>
              <a:rPr lang="en-US" dirty="0"/>
              <a:t>Instead of treating these savings as profit alone, our recommendation is to </a:t>
            </a:r>
            <a:r>
              <a:rPr lang="en-US" b="1" dirty="0"/>
              <a:t>reinvest 50% of those savings into expanding the therapist network</a:t>
            </a:r>
            <a:r>
              <a:rPr lang="en-US" dirty="0"/>
              <a:t>. This creates a loop where:</a:t>
            </a:r>
          </a:p>
          <a:p>
            <a:r>
              <a:rPr lang="en-US" dirty="0"/>
              <a:t>Lower AI costs → Higher margins → More therapists → Better service → Higher retention → More revenue.</a:t>
            </a:r>
          </a:p>
          <a:p>
            <a:r>
              <a:rPr lang="en-US" dirty="0"/>
              <a:t>This transforms AI from a cost center into a </a:t>
            </a:r>
            <a:r>
              <a:rPr lang="en-US" b="1" dirty="0"/>
              <a:t>growth accelerator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770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third major recommendation is to </a:t>
            </a:r>
            <a:r>
              <a:rPr lang="en-US" b="1" dirty="0"/>
              <a:t>add a B2B enterprise revenue track</a:t>
            </a:r>
            <a:r>
              <a:rPr lang="en-US" dirty="0"/>
              <a:t> alongside </a:t>
            </a:r>
            <a:r>
              <a:rPr lang="en-US" dirty="0" err="1"/>
              <a:t>InPower’s</a:t>
            </a:r>
            <a:r>
              <a:rPr lang="en-US" dirty="0"/>
              <a:t> existing B2C model.</a:t>
            </a:r>
          </a:p>
          <a:p>
            <a:r>
              <a:rPr lang="en-US" dirty="0"/>
              <a:t>This is based on the proven model used by </a:t>
            </a:r>
            <a:r>
              <a:rPr lang="en-US" b="1" dirty="0"/>
              <a:t>Wisdo</a:t>
            </a:r>
            <a:r>
              <a:rPr lang="en-US" dirty="0"/>
              <a:t>, which successfully pivoted into B2B and was later acquired by </a:t>
            </a:r>
            <a:r>
              <a:rPr lang="en-US" dirty="0" err="1"/>
              <a:t>Talkspace</a:t>
            </a:r>
            <a:r>
              <a:rPr lang="en-US" dirty="0"/>
              <a:t>. Under this approach:</a:t>
            </a:r>
          </a:p>
          <a:p>
            <a:r>
              <a:rPr lang="en-US" b="1" dirty="0"/>
              <a:t>B2C Track</a:t>
            </a:r>
            <a:r>
              <a:rPr lang="en-US" dirty="0"/>
              <a:t> continues serving individuals through subscriptions, coaching, and digital tools.</a:t>
            </a:r>
          </a:p>
          <a:p>
            <a:r>
              <a:rPr lang="en-US" b="1" dirty="0"/>
              <a:t>B2B Track</a:t>
            </a:r>
            <a:r>
              <a:rPr lang="en-US" dirty="0"/>
              <a:t> targets corporations offering wellness programs to employees through annual contracts.</a:t>
            </a:r>
          </a:p>
          <a:p>
            <a:r>
              <a:rPr lang="en-US" dirty="0"/>
              <a:t>Why this matters:</a:t>
            </a:r>
          </a:p>
          <a:p>
            <a:r>
              <a:rPr lang="en-US" dirty="0"/>
              <a:t>It </a:t>
            </a:r>
            <a:r>
              <a:rPr lang="en-US" b="1" dirty="0"/>
              <a:t>diversifies revenue</a:t>
            </a:r>
            <a:r>
              <a:rPr lang="en-US" dirty="0"/>
              <a:t>, reducing reliance on individual subscriptions.</a:t>
            </a:r>
          </a:p>
          <a:p>
            <a:r>
              <a:rPr lang="en-US" dirty="0"/>
              <a:t>It creates </a:t>
            </a:r>
            <a:r>
              <a:rPr lang="en-US" b="1" dirty="0"/>
              <a:t>predictable, contract-based income</a:t>
            </a:r>
            <a:r>
              <a:rPr lang="en-US" dirty="0"/>
              <a:t>.</a:t>
            </a:r>
          </a:p>
          <a:p>
            <a:r>
              <a:rPr lang="en-US" dirty="0"/>
              <a:t>It reduces churn, because enterprise contracts are multi-year.</a:t>
            </a:r>
          </a:p>
          <a:p>
            <a:r>
              <a:rPr lang="en-US" dirty="0"/>
              <a:t>This transforms </a:t>
            </a:r>
            <a:r>
              <a:rPr lang="en-US" dirty="0" err="1"/>
              <a:t>InPower</a:t>
            </a:r>
            <a:r>
              <a:rPr lang="en-US" dirty="0"/>
              <a:t> from a consumer-only app into a </a:t>
            </a:r>
            <a:r>
              <a:rPr lang="en-US" b="1" dirty="0"/>
              <a:t>platform with enterprise-grade stability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50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Our fourth recommendation is one of the most sensitive but also one of the most powerful: </a:t>
            </a:r>
            <a:r>
              <a:rPr lang="en-US" b="1" dirty="0"/>
              <a:t>ethical data monetization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 err="1"/>
              <a:t>InPower</a:t>
            </a:r>
            <a:r>
              <a:rPr lang="en-US" dirty="0"/>
              <a:t> sits on uniquely valuable </a:t>
            </a:r>
            <a:r>
              <a:rPr lang="en-US" b="1" dirty="0"/>
              <a:t>mental wellness, emotional growth, and behavior insight data</a:t>
            </a:r>
            <a:r>
              <a:rPr lang="en-US" dirty="0"/>
              <a:t>. When anonymized properly, this data can support: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Universities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Public health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Clinical trials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Pharmaceutical R&amp;D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Government health agencies</a:t>
            </a:r>
          </a:p>
          <a:p>
            <a:pPr>
              <a:buNone/>
            </a:pPr>
            <a:r>
              <a:rPr lang="en-US" dirty="0"/>
              <a:t>However, this only works under </a:t>
            </a:r>
            <a:r>
              <a:rPr lang="en-US" b="1" dirty="0"/>
              <a:t>non-negotiable ethical rules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Opt-in consent only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Independent ethics review 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 transparency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Complete user control</a:t>
            </a:r>
          </a:p>
          <a:p>
            <a:pPr>
              <a:buNone/>
            </a:pPr>
            <a:r>
              <a:rPr lang="en-US" dirty="0"/>
              <a:t>We propose: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Year 1</a:t>
            </a:r>
            <a:r>
              <a:rPr lang="en-US" dirty="0"/>
              <a:t>: Infrastructure and policy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Year 2</a:t>
            </a:r>
            <a:r>
              <a:rPr lang="en-US" dirty="0"/>
              <a:t>: Small pilot partnerships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Year 3</a:t>
            </a:r>
            <a:r>
              <a:rPr lang="en-US" dirty="0"/>
              <a:t>: Scaled partnerships</a:t>
            </a:r>
          </a:p>
          <a:p>
            <a:pPr>
              <a:buNone/>
            </a:pPr>
            <a:r>
              <a:rPr lang="en-US" dirty="0"/>
              <a:t>This adds a </a:t>
            </a:r>
            <a:r>
              <a:rPr lang="en-US" b="1" dirty="0"/>
              <a:t>high-value B2B revenue stream</a:t>
            </a:r>
            <a:r>
              <a:rPr lang="en-US" dirty="0"/>
              <a:t> while strengthening </a:t>
            </a:r>
            <a:r>
              <a:rPr lang="en-US" dirty="0" err="1"/>
              <a:t>InPower’s</a:t>
            </a:r>
            <a:r>
              <a:rPr lang="en-US" dirty="0"/>
              <a:t> role as a </a:t>
            </a:r>
            <a:r>
              <a:rPr lang="en-US" b="1" dirty="0"/>
              <a:t>social-impact organization</a:t>
            </a:r>
            <a:r>
              <a:rPr lang="en-US" dirty="0"/>
              <a:t>, not just a profit-driven startup.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34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fifth recommendation addresses one of the biggest barriers in mental health: </a:t>
            </a:r>
            <a:r>
              <a:rPr lang="en-US" b="1" dirty="0"/>
              <a:t>affordability</a:t>
            </a:r>
            <a:r>
              <a:rPr lang="en-US" dirty="0"/>
              <a:t>.</a:t>
            </a:r>
          </a:p>
          <a:p>
            <a:r>
              <a:rPr lang="en-US" dirty="0"/>
              <a:t>Right now, many users pay out-of-pocket for emotional support and coaching. We propose partnering with large insurers such as:</a:t>
            </a:r>
          </a:p>
          <a:p>
            <a:r>
              <a:rPr lang="en-US" dirty="0"/>
              <a:t>Sun Life</a:t>
            </a:r>
          </a:p>
          <a:p>
            <a:r>
              <a:rPr lang="en-US" dirty="0"/>
              <a:t>Manulife</a:t>
            </a:r>
          </a:p>
          <a:p>
            <a:r>
              <a:rPr lang="en-US" dirty="0"/>
              <a:t>Great-West Life</a:t>
            </a:r>
          </a:p>
          <a:p>
            <a:r>
              <a:rPr lang="en-US" dirty="0"/>
              <a:t>This allows </a:t>
            </a:r>
            <a:r>
              <a:rPr lang="en-US" b="1" dirty="0"/>
              <a:t>50–80% reimbursement</a:t>
            </a:r>
            <a:r>
              <a:rPr lang="en-US" dirty="0"/>
              <a:t> for eligible therapy services. The impact is major:</a:t>
            </a:r>
          </a:p>
          <a:p>
            <a:r>
              <a:rPr lang="en-US" dirty="0"/>
              <a:t>Lower cost for users</a:t>
            </a:r>
          </a:p>
          <a:p>
            <a:r>
              <a:rPr lang="en-US" dirty="0"/>
              <a:t>Higher conversion rates</a:t>
            </a:r>
          </a:p>
          <a:p>
            <a:r>
              <a:rPr lang="en-US" dirty="0"/>
              <a:t>Expanded addressable market</a:t>
            </a:r>
          </a:p>
          <a:p>
            <a:r>
              <a:rPr lang="en-US" dirty="0"/>
              <a:t>Increased long-term user loyalty</a:t>
            </a:r>
          </a:p>
          <a:p>
            <a:r>
              <a:rPr lang="en-US" dirty="0"/>
              <a:t>This shifts </a:t>
            </a:r>
            <a:r>
              <a:rPr lang="en-US" dirty="0" err="1"/>
              <a:t>InPower</a:t>
            </a:r>
            <a:r>
              <a:rPr lang="en-US" dirty="0"/>
              <a:t> from a premium wellness platform to an </a:t>
            </a:r>
            <a:r>
              <a:rPr lang="en-US" b="1" dirty="0"/>
              <a:t>accessible mental health infrastructure partner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44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Our final recommendation is to build </a:t>
            </a:r>
            <a:r>
              <a:rPr lang="en-US" b="1" dirty="0"/>
              <a:t>viral, referral-based growth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Mental health products rely heavily on </a:t>
            </a:r>
            <a:r>
              <a:rPr lang="en-US" b="1" dirty="0"/>
              <a:t>trust</a:t>
            </a:r>
            <a:r>
              <a:rPr lang="en-US" dirty="0"/>
              <a:t>. People are far more likely to try a wellness platform if it is recommended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friend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family member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therapist</a:t>
            </a:r>
          </a:p>
          <a:p>
            <a:pPr>
              <a:buNone/>
            </a:pPr>
            <a:r>
              <a:rPr lang="en-US" dirty="0"/>
              <a:t>We propose: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Rewarding referrers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Reducing onboarding friction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Tracking viral coefficient as a KPI</a:t>
            </a:r>
          </a:p>
          <a:p>
            <a:pPr>
              <a:buNone/>
            </a:pPr>
            <a:r>
              <a:rPr lang="en-US" dirty="0"/>
              <a:t>Research shows that </a:t>
            </a:r>
            <a:r>
              <a:rPr lang="en-US" b="1" dirty="0"/>
              <a:t>referred users retain 25% longer</a:t>
            </a:r>
            <a:r>
              <a:rPr lang="en-US" dirty="0"/>
              <a:t> than users acquired through ads. And companies like Dropbox used this same approach to fuel exponential growth.</a:t>
            </a:r>
          </a:p>
          <a:p>
            <a:pPr>
              <a:buNone/>
            </a:pPr>
            <a:r>
              <a:rPr lang="en-US" dirty="0"/>
              <a:t>This strategy lowers customer acquisition costs while boosting retention—an ideal combination for unit economics.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2082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strategies roll out across </a:t>
            </a:r>
            <a:r>
              <a:rPr lang="en-US" b="1" dirty="0"/>
              <a:t>three structured phases</a:t>
            </a:r>
            <a:r>
              <a:rPr lang="en-US" dirty="0"/>
              <a:t>:</a:t>
            </a:r>
          </a:p>
          <a:p>
            <a:r>
              <a:rPr lang="en-US" b="1" dirty="0"/>
              <a:t>Phase 1:</a:t>
            </a:r>
            <a:r>
              <a:rPr lang="en-US" dirty="0"/>
              <a:t> Therapist recruitment, AI optimization, B2C refinement</a:t>
            </a:r>
          </a:p>
          <a:p>
            <a:r>
              <a:rPr lang="en-US" b="1" dirty="0"/>
              <a:t>Phase 2:</a:t>
            </a:r>
            <a:r>
              <a:rPr lang="en-US" dirty="0"/>
              <a:t> B2B enterprise launch, insurance pilots</a:t>
            </a:r>
          </a:p>
          <a:p>
            <a:r>
              <a:rPr lang="en-US" b="1" dirty="0"/>
              <a:t>Phase 3:</a:t>
            </a:r>
            <a:r>
              <a:rPr lang="en-US" dirty="0"/>
              <a:t> Ethical data partnerships and global scaling</a:t>
            </a:r>
          </a:p>
          <a:p>
            <a:r>
              <a:rPr lang="en-US" dirty="0"/>
              <a:t>Each phase includes </a:t>
            </a:r>
            <a:r>
              <a:rPr lang="en-US" b="1" dirty="0"/>
              <a:t>performance checkpoints</a:t>
            </a:r>
            <a:r>
              <a:rPr lang="en-US" dirty="0"/>
              <a:t>, ensuring that growth only continues if retention, margins, and satisfaction targets are being met.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1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summary, this strategy creates three powerful outcomes:</a:t>
            </a:r>
          </a:p>
          <a:p>
            <a:r>
              <a:rPr lang="en-US" b="1" dirty="0"/>
              <a:t>A defensible moat</a:t>
            </a:r>
            <a:r>
              <a:rPr lang="en-US" dirty="0"/>
              <a:t> through therapist relationships</a:t>
            </a:r>
          </a:p>
          <a:p>
            <a:r>
              <a:rPr lang="en-US" b="1" dirty="0"/>
              <a:t>Diversified revenue</a:t>
            </a:r>
            <a:r>
              <a:rPr lang="en-US" dirty="0"/>
              <a:t> through B2C, B2B, and data</a:t>
            </a:r>
          </a:p>
          <a:p>
            <a:r>
              <a:rPr lang="en-US" b="1" dirty="0"/>
              <a:t>Proven scalability</a:t>
            </a:r>
            <a:r>
              <a:rPr lang="en-US" dirty="0"/>
              <a:t> by leveraging AI economics and referral growth</a:t>
            </a:r>
          </a:p>
          <a:p>
            <a:r>
              <a:rPr lang="en-US" dirty="0"/>
              <a:t>Together, these advantages reinforce one another and reduce risk from market shocks.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5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this strategy to succeed, </a:t>
            </a:r>
            <a:r>
              <a:rPr lang="en-US" b="1" dirty="0"/>
              <a:t>five factors must be executed with discipline</a:t>
            </a:r>
            <a:r>
              <a:rPr lang="en-US" dirty="0"/>
              <a:t>:</a:t>
            </a:r>
          </a:p>
          <a:p>
            <a:r>
              <a:rPr lang="en-US" dirty="0"/>
              <a:t>Therapist quality</a:t>
            </a:r>
          </a:p>
          <a:p>
            <a:r>
              <a:rPr lang="en-US" dirty="0"/>
              <a:t>User experience</a:t>
            </a:r>
          </a:p>
          <a:p>
            <a:r>
              <a:rPr lang="en-US" dirty="0"/>
              <a:t>Ethical data practices</a:t>
            </a:r>
          </a:p>
          <a:p>
            <a:r>
              <a:rPr lang="en-US" dirty="0"/>
              <a:t>Financial discipline</a:t>
            </a:r>
          </a:p>
          <a:p>
            <a:r>
              <a:rPr lang="en-US" dirty="0"/>
              <a:t>Clear market positioning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8981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immediate next steps are:</a:t>
            </a:r>
          </a:p>
          <a:p>
            <a:r>
              <a:rPr lang="en-US" dirty="0"/>
              <a:t>Approving Phase 1 initiatives</a:t>
            </a:r>
          </a:p>
          <a:p>
            <a:r>
              <a:rPr lang="en-US" dirty="0"/>
              <a:t>Allocating recruitment resources</a:t>
            </a:r>
          </a:p>
          <a:p>
            <a:r>
              <a:rPr lang="en-US" dirty="0"/>
              <a:t>Defining KPIs</a:t>
            </a:r>
          </a:p>
          <a:p>
            <a:r>
              <a:rPr lang="en-US" dirty="0"/>
              <a:t>Establishing data governance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899AD-6DE1-6E49-AD81-CAEF8518183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36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InPower Growth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Strategic Recommendations for Sustainable Competitive Advantage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Strategic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Understanding Our Strengths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Our Revenue Mix: 1:1 Coaching Leads the Way</a:t>
            </a:r>
          </a:p>
        </p:txBody>
      </p:sp>
      <p:pic>
        <p:nvPicPr>
          <p:cNvPr id="3" name="Picture 2" descr="chart1_service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72822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B7280"/>
                </a:solidFill>
              </a:defRPr>
            </a:pPr>
            <a:r>
              <a:t>1:1 Coaching represents 26.7% of revenue - our strongest and most defensible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Six Strategic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Building Multiple Competitive Advantages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 #1: Scale Our 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rPr dirty="0"/>
              <a:t>✓ THE INSIGHT: 1:1 Coaching is our largest revenue driver (26.7%) with highest margins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rPr dirty="0"/>
              <a:t>✓ THE STRATEGY: Systematic therapist scaling from 50 to 500+ over 24 months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rPr dirty="0"/>
              <a:t>✓ THE APPROACH: Quality-first recruitment, retention programs, specialty matching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rPr dirty="0"/>
              <a:t>✓ WHY IT WINS: Therapist relationships create user lock-in competitors can't replicate</a:t>
            </a:r>
          </a:p>
          <a:p>
            <a:pPr>
              <a:lnSpc>
                <a:spcPct val="150000"/>
              </a:lnSpc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rPr dirty="0"/>
              <a:t>✓ THE OUTCOME: Sustainable competitive advantage through quality and trust</a:t>
            </a:r>
          </a:p>
        </p:txBody>
      </p:sp>
      <p:pic>
        <p:nvPicPr>
          <p:cNvPr id="4" name="Picture 3" descr="chart4_therapist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840480" cy="22913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 #2: Leverage AI Cost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DATA: OpenAI API costs declined 90% in just 18 months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TREND: Industry forecasts 15-25% annual declines continuing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NVIDIA Blackwell: 25x cost-performance improvement announced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OPPORTUNITY: Significant margin improvement on AI-guided tools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STRATEGY: Reinvest 50% of savings into hiring more therapists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SOURCES: OpenAI pricing, NVIDIA announcements, IDC industry reports</a:t>
            </a:r>
          </a:p>
        </p:txBody>
      </p:sp>
      <p:pic>
        <p:nvPicPr>
          <p:cNvPr id="4" name="Picture 3" descr="chart2_ai_cos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840480" cy="2294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 #3: Launch B2B Enterprise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PROVEN MODEL: Wisdo launched B2B2C, acquired by Talkspace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B2C TRACK: Individual consumers, self-service, marketing-driven growth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B2B TRACK: Corporate wellness, direct sales, multi-year contracts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DIVERSIFICATION: Two independent revenue streams reduce dependency risk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ENTERPRISE VALUE: Sticky contracts, predictable revenue, lower churn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OUTCOME: Sustainable growth through multiple channels</a:t>
            </a:r>
          </a:p>
        </p:txBody>
      </p:sp>
      <p:pic>
        <p:nvPicPr>
          <p:cNvPr id="4" name="Picture 3" descr="chart3_diver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840480" cy="23017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 #4: Ethical Data Partnership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00584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OPPORTUNITY: Anonymized mental health insights advance public research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POTENTIAL PARTNERS: Universities, NIH, public health agencies, pharma R&amp;D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ETHICAL FRAMEWORK (Non-Negotiable):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   • Opt-in consent only (never opt-out)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   • Independent ethics review board oversight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   • Full transparency in terms and reports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   • Users maintain complete control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TIMELINE: Infrastructure Year 1, Pilots Year 2, Scale Year 3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IMPACT: Additional revenue stream + enhanced company valuation</a:t>
            </a:r>
          </a:p>
        </p:txBody>
      </p:sp>
      <p:pic>
        <p:nvPicPr>
          <p:cNvPr id="4" name="Picture 3" descr="chart3_divers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3840480" cy="23017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 #5: Remove Price Barriers via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PROBLEM: Out-of-pocket costs limit access to mental health support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SOLUTION: Partner with major insurers for 50-80% reimbursement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TARGET PARTNERS: Sun Life, Manulife, Great-West Life (Canada focus)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USER IMPACT: Effective cost drops significantly after reimbursement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MARKET EXPANSION: Addressable market grows substantially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CONVERSION BOOST: Higher conversion rates when cost barriers removed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OUTCOME: Market expansion and increased accessibility</a:t>
            </a:r>
          </a:p>
        </p:txBody>
      </p:sp>
      <p:pic>
        <p:nvPicPr>
          <p:cNvPr id="4" name="Picture 3" descr="chart5_insurance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840480" cy="23017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Recommendation #6: Build Viral Growth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00584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INSIGHT: Mental health recommendations from trusted sources highly effective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TRUST FACTOR: People trust peer referrals more than advertising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MECHANICS: Reward referrers, reduce friction for new users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ECONOMICS: Lower customer acquisition costs while maintaining quality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RETENTION BONUS: Referred users demonstrate 25% higher retention rates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THE GOAL: Create self-sustaining viral coefficient (Dropbox achieved 0.5)</a:t>
            </a:r>
          </a:p>
          <a:p>
            <a:pPr>
              <a:spcAft>
                <a:spcPts val="800"/>
              </a:spcAft>
              <a:defRPr sz="1400">
                <a:solidFill>
                  <a:srgbClr val="1D1D1D"/>
                </a:solidFill>
              </a:defRPr>
            </a:pPr>
            <a:r>
              <a:t>✓ OUTCOME: Compounding growth through authentic word-of-mouth</a:t>
            </a:r>
          </a:p>
        </p:txBody>
      </p:sp>
      <p:pic>
        <p:nvPicPr>
          <p:cNvPr id="7" name="Picture 6" descr="A diagram of a referral program&#10;&#10;Description automatically generated">
            <a:extLst>
              <a:ext uri="{FF2B5EF4-FFF2-40B4-BE49-F238E27FC236}">
                <a16:creationId xmlns:a16="http://schemas.microsoft.com/office/drawing/2014/main" id="{ED26B917-1E89-BE99-C839-75679A75D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149" y="1503218"/>
            <a:ext cx="4307119" cy="25007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Implementation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Phased Approach with Checkpoint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Three-Phase Implementation Over 24 Months</a:t>
            </a:r>
          </a:p>
        </p:txBody>
      </p:sp>
      <p:pic>
        <p:nvPicPr>
          <p:cNvPr id="3" name="Picture 2" descr="chart6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40940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6B7280"/>
                </a:solidFill>
              </a:defRPr>
            </a:pPr>
            <a:r>
              <a:t>Systematic rollout with validation checkpoints at each phase transition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This Strategy Wins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560320" cy="548640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DEFENSIBLE MOAT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500+ therapist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51460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Quality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0896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User trust &amp; loyalty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188720"/>
            <a:ext cx="2560320" cy="54864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DIVERSIFIED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92024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B2C individual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51460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B2B enterprise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310896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Data partnerships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188720"/>
            <a:ext cx="2560320" cy="54864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PROVEN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92024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Wisdo playbook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51460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AI cost leverage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108960"/>
            <a:ext cx="2560320" cy="502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D1D1D"/>
                </a:solidFill>
              </a:defRPr>
            </a:pPr>
            <a:r>
              <a:t>✓ Network effects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91B2"/>
                </a:solidFill>
              </a:defRPr>
            </a:pPr>
            <a:r>
              <a:t>Combined Effect: Multiple reinforcing advantages create sustainable competitive position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Critical Success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042890" cy="31661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1400"/>
              </a:spcAft>
              <a:defRPr sz="1600">
                <a:solidFill>
                  <a:srgbClr val="1D1D1D"/>
                </a:solidFill>
              </a:defRPr>
            </a:pPr>
            <a:r>
              <a:rPr dirty="0"/>
              <a:t>✓ THERAPIST QUALITY: Competitive advantage depends on recruitment excellence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1600">
                <a:solidFill>
                  <a:srgbClr val="1D1D1D"/>
                </a:solidFill>
              </a:defRPr>
            </a:pPr>
            <a:r>
              <a:rPr dirty="0"/>
              <a:t>✓ USER EXPERIENCE: Seamless matching drives retention and satisfaction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1600">
                <a:solidFill>
                  <a:srgbClr val="1D1D1D"/>
                </a:solidFill>
              </a:defRPr>
            </a:pPr>
            <a:r>
              <a:rPr dirty="0"/>
              <a:t>✓ ETHICAL STANDARDS: Transparent data practices build long-term trust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1600">
                <a:solidFill>
                  <a:srgbClr val="1D1D1D"/>
                </a:solidFill>
              </a:defRPr>
            </a:pPr>
            <a:r>
              <a:rPr dirty="0"/>
              <a:t>✓ EXECUTION DISCIPLINE: Phased approach with clear milestones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1600">
                <a:solidFill>
                  <a:srgbClr val="1D1D1D"/>
                </a:solidFill>
              </a:defRPr>
            </a:pPr>
            <a:r>
              <a:rPr dirty="0"/>
              <a:t>✓ MARKET POSITIONING: Clear differentiation from competitors</a:t>
            </a:r>
          </a:p>
          <a:p>
            <a:pPr>
              <a:lnSpc>
                <a:spcPct val="150000"/>
              </a:lnSpc>
              <a:spcAft>
                <a:spcPts val="1400"/>
              </a:spcAft>
              <a:defRPr sz="1600">
                <a:solidFill>
                  <a:srgbClr val="1D1D1D"/>
                </a:solidFill>
              </a:defRPr>
            </a:pPr>
            <a:r>
              <a:rPr dirty="0"/>
              <a:t>✓ FINANCIAL PRUDENCE: Sustainable unit economics at every stage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8067" y="640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7800" y="1555818"/>
            <a:ext cx="5362109" cy="29476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1. Review and approve strategic recommendations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2. Prioritize Phase 1 initiatives for immediate action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3. Allocate resources for therapist recruitment program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4. Define success metrics and KPIs for each initiative</a:t>
            </a:r>
          </a:p>
          <a:p>
            <a:pPr>
              <a:lnSpc>
                <a:spcPct val="150000"/>
              </a:lnSpc>
              <a:spcAft>
                <a:spcPts val="16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5. Establish governance structure for data ethics 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1904</Words>
  <Application>Microsoft Macintosh PowerPoint</Application>
  <PresentationFormat>On-screen Show (16:9)</PresentationFormat>
  <Paragraphs>199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Jayathi Kashilanka</cp:lastModifiedBy>
  <cp:revision>3</cp:revision>
  <dcterms:created xsi:type="dcterms:W3CDTF">2013-01-27T09:14:16Z</dcterms:created>
  <dcterms:modified xsi:type="dcterms:W3CDTF">2025-12-06T20:02:08Z</dcterms:modified>
  <cp:category/>
</cp:coreProperties>
</file>