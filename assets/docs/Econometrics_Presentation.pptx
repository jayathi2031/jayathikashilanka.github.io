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Comfortaa Light"/>
      <p:regular r:id="rId22"/>
      <p:bold r:id="rId23"/>
    </p:embeddedFont>
    <p:embeddedFont>
      <p:font typeface="Economica"/>
      <p:regular r:id="rId24"/>
      <p:bold r:id="rId25"/>
      <p:italic r:id="rId26"/>
      <p:boldItalic r:id="rId27"/>
    </p:embeddedFont>
    <p:embeddedFont>
      <p:font typeface="Roboto"/>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xlDHYGaZkAouedBclND7U469V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ComfortaaLight-regular.fntdata"/><Relationship Id="rId21" Type="http://schemas.openxmlformats.org/officeDocument/2006/relationships/slide" Target="slides/slide17.xml"/><Relationship Id="rId24" Type="http://schemas.openxmlformats.org/officeDocument/2006/relationships/font" Target="fonts/Economica-regular.fntdata"/><Relationship Id="rId23" Type="http://schemas.openxmlformats.org/officeDocument/2006/relationships/font" Target="fonts/Comfortaa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conomica-italic.fntdata"/><Relationship Id="rId25" Type="http://schemas.openxmlformats.org/officeDocument/2006/relationships/font" Target="fonts/Economica-bold.fntdata"/><Relationship Id="rId28" Type="http://schemas.openxmlformats.org/officeDocument/2006/relationships/font" Target="fonts/Roboto-regular.fntdata"/><Relationship Id="rId27" Type="http://schemas.openxmlformats.org/officeDocument/2006/relationships/font" Target="fonts/Economica-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7.xml"/><Relationship Id="rId33" Type="http://schemas.openxmlformats.org/officeDocument/2006/relationships/font" Target="fonts/OpenSans-bold.fntdata"/><Relationship Id="rId10" Type="http://schemas.openxmlformats.org/officeDocument/2006/relationships/slide" Target="slides/slide6.xml"/><Relationship Id="rId32" Type="http://schemas.openxmlformats.org/officeDocument/2006/relationships/font" Target="fonts/OpenSans-regular.fntdata"/><Relationship Id="rId13" Type="http://schemas.openxmlformats.org/officeDocument/2006/relationships/slide" Target="slides/slide9.xml"/><Relationship Id="rId35" Type="http://schemas.openxmlformats.org/officeDocument/2006/relationships/font" Target="fonts/OpenSans-boldItalic.fntdata"/><Relationship Id="rId12" Type="http://schemas.openxmlformats.org/officeDocument/2006/relationships/slide" Target="slides/slide8.xml"/><Relationship Id="rId34"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c154ad4d9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6" name="Google Shape;76;g2c154ad4d9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D0D0D"/>
                </a:solidFill>
                <a:highlight>
                  <a:srgbClr val="FFFFFF"/>
                </a:highlight>
                <a:latin typeface="Roboto"/>
                <a:ea typeface="Roboto"/>
                <a:cs typeface="Roboto"/>
                <a:sym typeface="Roboto"/>
              </a:rPr>
              <a:t>Econometric modeling is a powerful tool that applies mathematical and statistical methods to economic theory, it not only allows us to estimate, and test these theories, it also aids in forecasting trends and evaluating the impact of policies or interventions.</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US">
                <a:solidFill>
                  <a:srgbClr val="0D0D0D"/>
                </a:solidFill>
                <a:highlight>
                  <a:srgbClr val="FFFFFF"/>
                </a:highlight>
                <a:latin typeface="Roboto"/>
                <a:ea typeface="Roboto"/>
                <a:cs typeface="Roboto"/>
                <a:sym typeface="Roboto"/>
              </a:rPr>
              <a:t> Our endeavor here is to assess various factors within the labor market and their effects on wage earnings, providing valuable insights and policy implications. </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US">
                <a:solidFill>
                  <a:srgbClr val="0D0D0D"/>
                </a:solidFill>
                <a:highlight>
                  <a:srgbClr val="FFFFFF"/>
                </a:highlight>
                <a:latin typeface="Roboto"/>
                <a:ea typeface="Roboto"/>
                <a:cs typeface="Roboto"/>
                <a:sym typeface="Roboto"/>
              </a:rPr>
              <a:t>To achieve this, we have selected the Public Use Microdata Sample dataset from the United States Census Bureau, which offers a wealth of anonymized demographic and socioeconomic information</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rPr lang="en-US">
                <a:solidFill>
                  <a:srgbClr val="0D0D0D"/>
                </a:solidFill>
                <a:highlight>
                  <a:srgbClr val="FFFFFF"/>
                </a:highlight>
                <a:latin typeface="Roboto"/>
                <a:ea typeface="Roboto"/>
                <a:cs typeface="Roboto"/>
                <a:sym typeface="Roboto"/>
              </a:rPr>
              <a:t>We focus our study on the State of California, a key driver of US economic growth and a region characterized by significant diversity, we aim to explore the influence of race on wage earnings and investigate the intersectionality between race and English proficiency, examining how these factors collectively shape wage earnings in one of the </a:t>
            </a:r>
            <a:r>
              <a:rPr lang="en-US">
                <a:solidFill>
                  <a:srgbClr val="0D0D0D"/>
                </a:solidFill>
                <a:highlight>
                  <a:srgbClr val="FFFFFF"/>
                </a:highlight>
                <a:latin typeface="Roboto"/>
                <a:ea typeface="Roboto"/>
                <a:cs typeface="Roboto"/>
                <a:sym typeface="Roboto"/>
              </a:rPr>
              <a:t>highly competitive labor markets of the world</a:t>
            </a:r>
            <a:endParaRPr/>
          </a:p>
        </p:txBody>
      </p:sp>
      <p:sp>
        <p:nvSpPr>
          <p:cNvPr id="77" name="Google Shape;77;g2c154ad4d9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c1eb690462_1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3" name="Google Shape;83;g2c1eb690462_1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g2c1eb690462_1_8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242ad9053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242ad9053_1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g2c242ad9053_1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c154ad4d9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7" name="Google Shape;97;g2c154ad4d96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2c154ad4d96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242ad9053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c242ad9053_5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0D0D0D"/>
                </a:solidFill>
                <a:highlight>
                  <a:srgbClr val="FFFFFF"/>
                </a:highlight>
                <a:latin typeface="Roboto"/>
                <a:ea typeface="Roboto"/>
                <a:cs typeface="Roboto"/>
                <a:sym typeface="Roboto"/>
              </a:rPr>
              <a:t>In Descriptive statistics we calculated min, max, mean and sd of chosen variables which  provided insights of the variables and their relationships with each other. for </a:t>
            </a:r>
            <a:r>
              <a:rPr lang="en-US">
                <a:solidFill>
                  <a:srgbClr val="0D0D0D"/>
                </a:solidFill>
                <a:highlight>
                  <a:srgbClr val="FFFFFF"/>
                </a:highlight>
                <a:latin typeface="Roboto"/>
                <a:ea typeface="Roboto"/>
                <a:cs typeface="Roboto"/>
                <a:sym typeface="Roboto"/>
              </a:rPr>
              <a:t>instance</a:t>
            </a:r>
            <a:r>
              <a:rPr lang="en-US">
                <a:solidFill>
                  <a:srgbClr val="0D0D0D"/>
                </a:solidFill>
                <a:highlight>
                  <a:srgbClr val="FFFFFF"/>
                </a:highlight>
                <a:latin typeface="Roboto"/>
                <a:ea typeface="Roboto"/>
                <a:cs typeface="Roboto"/>
                <a:sym typeface="Roboto"/>
              </a:rPr>
              <a:t> age range, from 16 to 94, median age is 37, and mean age is 39.37, indicating a right-skewed distribution with the majority of individuals being younger, standard deviation of 15.94, suggesting considerable variability in age within the dataset. The maximum value of 8 suggests the presence of multiple categories of workers, which we further re-grouped in  just 4 </a:t>
            </a:r>
            <a:r>
              <a:rPr lang="en-US">
                <a:solidFill>
                  <a:srgbClr val="0D0D0D"/>
                </a:solidFill>
                <a:highlight>
                  <a:srgbClr val="FFFFFF"/>
                </a:highlight>
                <a:latin typeface="Roboto"/>
                <a:ea typeface="Roboto"/>
                <a:cs typeface="Roboto"/>
                <a:sym typeface="Roboto"/>
              </a:rPr>
              <a:t>categories</a:t>
            </a:r>
            <a:r>
              <a:rPr lang="en-US">
                <a:solidFill>
                  <a:srgbClr val="0D0D0D"/>
                </a:solidFill>
                <a:highlight>
                  <a:srgbClr val="FFFFFF"/>
                </a:highlight>
                <a:latin typeface="Roboto"/>
                <a:ea typeface="Roboto"/>
                <a:cs typeface="Roboto"/>
                <a:sym typeface="Roboto"/>
              </a:rPr>
              <a:t>. Similarly for educational attainment with </a:t>
            </a:r>
            <a:r>
              <a:rPr lang="en-US">
                <a:solidFill>
                  <a:srgbClr val="0D0D0D"/>
                </a:solidFill>
                <a:highlight>
                  <a:srgbClr val="FFFFFF"/>
                </a:highlight>
                <a:latin typeface="Roboto"/>
                <a:ea typeface="Roboto"/>
                <a:cs typeface="Roboto"/>
                <a:sym typeface="Roboto"/>
              </a:rPr>
              <a:t>maximum</a:t>
            </a:r>
            <a:r>
              <a:rPr lang="en-US">
                <a:solidFill>
                  <a:srgbClr val="0D0D0D"/>
                </a:solidFill>
                <a:highlight>
                  <a:srgbClr val="FFFFFF"/>
                </a:highlight>
                <a:latin typeface="Roboto"/>
                <a:ea typeface="Roboto"/>
                <a:cs typeface="Roboto"/>
                <a:sym typeface="Roboto"/>
              </a:rPr>
              <a:t> of 24 categories, which were later combined in just 5 categories.</a:t>
            </a:r>
            <a:endParaRPr>
              <a:solidFill>
                <a:srgbClr val="0D0D0D"/>
              </a:solidFill>
              <a:highlight>
                <a:srgbClr val="FFFFFF"/>
              </a:highlight>
              <a:latin typeface="Roboto"/>
              <a:ea typeface="Roboto"/>
              <a:cs typeface="Roboto"/>
              <a:sym typeface="Roboto"/>
            </a:endParaRPr>
          </a:p>
          <a:p>
            <a:pPr indent="0" lvl="0" marL="0" rtl="0" algn="l">
              <a:spcBef>
                <a:spcPts val="0"/>
              </a:spcBef>
              <a:spcAft>
                <a:spcPts val="0"/>
              </a:spcAft>
              <a:buNone/>
            </a:pPr>
            <a:r>
              <a:t/>
            </a:r>
            <a:endParaRPr>
              <a:solidFill>
                <a:srgbClr val="0D0D0D"/>
              </a:solidFill>
              <a:highlight>
                <a:srgbClr val="FFFFFF"/>
              </a:highlight>
              <a:latin typeface="Roboto"/>
              <a:ea typeface="Roboto"/>
              <a:cs typeface="Roboto"/>
              <a:sym typeface="Roboto"/>
            </a:endParaRPr>
          </a:p>
        </p:txBody>
      </p:sp>
      <p:sp>
        <p:nvSpPr>
          <p:cNvPr id="105" name="Google Shape;105;g2c242ad9053_5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1eb690462_7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c1eb690462_7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2c1eb690462_7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c1eb690462_1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c1eb690462_1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2c1eb690462_1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242ad9053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242ad9053_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2c242ad9053_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1eb690462_1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1eb690462_1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2c1eb690462_1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1eb690462_7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1eb690462_7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2c1eb690462_7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c1eb690462_5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c1eb690462_5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2c1eb690462_5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c242ad9053_8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c242ad9053_8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2c242ad9053_8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c154ad4d96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c154ad4d96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2c154ad4d96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c154ad4ee3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c154ad4ee3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2c154ad4ee3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1eb690462_9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1eb690462_9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c1eb690462_9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1eb690462_1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c1eb690462_1_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2c1eb690462_1_1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2c242ad9053_0_401"/>
          <p:cNvSpPr/>
          <p:nvPr/>
        </p:nvSpPr>
        <p:spPr>
          <a:xfrm>
            <a:off x="3658683" y="1008933"/>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5" name="Google Shape;15;g2c242ad9053_0_401"/>
          <p:cNvSpPr/>
          <p:nvPr/>
        </p:nvSpPr>
        <p:spPr>
          <a:xfrm rot="10800000">
            <a:off x="7091169" y="43556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6" name="Google Shape;16;g2c242ad9053_0_401"/>
          <p:cNvSpPr txBox="1"/>
          <p:nvPr>
            <p:ph type="ctrTitle"/>
          </p:nvPr>
        </p:nvSpPr>
        <p:spPr>
          <a:xfrm>
            <a:off x="4059600" y="1925674"/>
            <a:ext cx="4072800" cy="20496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7" name="Google Shape;17;g2c242ad9053_0_401"/>
          <p:cNvSpPr txBox="1"/>
          <p:nvPr>
            <p:ph idx="1" type="subTitle"/>
          </p:nvPr>
        </p:nvSpPr>
        <p:spPr>
          <a:xfrm>
            <a:off x="4059600" y="4155440"/>
            <a:ext cx="4072800" cy="9351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8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8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8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8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8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8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8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800"/>
              <a:buFont typeface="Economica"/>
              <a:buNone/>
              <a:defRPr sz="2800">
                <a:latin typeface="Economica"/>
                <a:ea typeface="Economica"/>
                <a:cs typeface="Economica"/>
                <a:sym typeface="Economica"/>
              </a:defRPr>
            </a:lvl9pPr>
          </a:lstStyle>
          <a:p/>
        </p:txBody>
      </p:sp>
      <p:sp>
        <p:nvSpPr>
          <p:cNvPr id="18" name="Google Shape;18;g2c242ad9053_0_401"/>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g2c242ad9053_0_407"/>
          <p:cNvSpPr/>
          <p:nvPr/>
        </p:nvSpPr>
        <p:spPr>
          <a:xfrm flipH="1">
            <a:off x="10127953" y="613633"/>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1" name="Google Shape;21;g2c242ad9053_0_407"/>
          <p:cNvSpPr/>
          <p:nvPr/>
        </p:nvSpPr>
        <p:spPr>
          <a:xfrm flipH="1" rot="10800000">
            <a:off x="621900" y="47444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2" name="Google Shape;22;g2c242ad9053_0_407"/>
          <p:cNvSpPr txBox="1"/>
          <p:nvPr>
            <p:ph type="title"/>
          </p:nvPr>
        </p:nvSpPr>
        <p:spPr>
          <a:xfrm>
            <a:off x="1031600" y="2408600"/>
            <a:ext cx="10128900" cy="20409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23" name="Google Shape;23;g2c242ad9053_0_40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2c242ad9053_0_412"/>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2c242ad9053_0_412"/>
          <p:cNvSpPr txBox="1"/>
          <p:nvPr>
            <p:ph type="title"/>
          </p:nvPr>
        </p:nvSpPr>
        <p:spPr>
          <a:xfrm>
            <a:off x="415600" y="421233"/>
            <a:ext cx="113607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 name="Google Shape;27;g2c242ad9053_0_412"/>
          <p:cNvSpPr txBox="1"/>
          <p:nvPr>
            <p:ph idx="1" type="body"/>
          </p:nvPr>
        </p:nvSpPr>
        <p:spPr>
          <a:xfrm>
            <a:off x="415600" y="1633633"/>
            <a:ext cx="11360700" cy="44721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8" name="Google Shape;28;g2c242ad9053_0_4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g2c242ad9053_0_417"/>
          <p:cNvSpPr txBox="1"/>
          <p:nvPr>
            <p:ph type="title"/>
          </p:nvPr>
        </p:nvSpPr>
        <p:spPr>
          <a:xfrm>
            <a:off x="415600" y="421233"/>
            <a:ext cx="113607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1" name="Google Shape;31;g2c242ad9053_0_417"/>
          <p:cNvSpPr txBox="1"/>
          <p:nvPr>
            <p:ph idx="1" type="body"/>
          </p:nvPr>
        </p:nvSpPr>
        <p:spPr>
          <a:xfrm>
            <a:off x="415600" y="1633633"/>
            <a:ext cx="5333100" cy="447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g2c242ad9053_0_417"/>
          <p:cNvSpPr txBox="1"/>
          <p:nvPr>
            <p:ph idx="2" type="body"/>
          </p:nvPr>
        </p:nvSpPr>
        <p:spPr>
          <a:xfrm>
            <a:off x="6443200" y="1633633"/>
            <a:ext cx="5333100" cy="44721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3" name="Google Shape;33;g2c242ad9053_0_41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g2c242ad9053_0_422"/>
          <p:cNvSpPr txBox="1"/>
          <p:nvPr>
            <p:ph type="title"/>
          </p:nvPr>
        </p:nvSpPr>
        <p:spPr>
          <a:xfrm>
            <a:off x="415600" y="421233"/>
            <a:ext cx="11360700" cy="1108500"/>
          </a:xfrm>
          <a:prstGeom prst="rect">
            <a:avLst/>
          </a:prstGeom>
        </p:spPr>
        <p:txBody>
          <a:bodyPr anchorCtr="0" anchor="b" bIns="121900" lIns="121900" spcFirstLastPara="1" rIns="121900" wrap="square" tIns="12190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 name="Google Shape;36;g2c242ad9053_0_42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g2c242ad9053_0_425"/>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39" name="Google Shape;39;g2c242ad9053_0_425"/>
          <p:cNvSpPr txBox="1"/>
          <p:nvPr>
            <p:ph idx="1" type="body"/>
          </p:nvPr>
        </p:nvSpPr>
        <p:spPr>
          <a:xfrm>
            <a:off x="415600" y="1865867"/>
            <a:ext cx="3744000" cy="37131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0" name="Google Shape;40;g2c242ad9053_0_42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g2c242ad9053_0_429"/>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 name="Google Shape;43;g2c242ad9053_0_429"/>
          <p:cNvSpPr txBox="1"/>
          <p:nvPr>
            <p:ph type="title"/>
          </p:nvPr>
        </p:nvSpPr>
        <p:spPr>
          <a:xfrm>
            <a:off x="653667" y="600200"/>
            <a:ext cx="78384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44" name="Google Shape;44;g2c242ad9053_0_42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2c242ad9053_0_433"/>
          <p:cNvSpPr/>
          <p:nvPr/>
        </p:nvSpPr>
        <p:spPr>
          <a:xfrm>
            <a:off x="6096000" y="-33"/>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7" name="Google Shape;47;g2c242ad9053_0_433"/>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g2c242ad9053_0_433"/>
          <p:cNvSpPr txBox="1"/>
          <p:nvPr>
            <p:ph type="title"/>
          </p:nvPr>
        </p:nvSpPr>
        <p:spPr>
          <a:xfrm>
            <a:off x="354000" y="1239033"/>
            <a:ext cx="5393700" cy="2381700"/>
          </a:xfrm>
          <a:prstGeom prst="rect">
            <a:avLst/>
          </a:prstGeom>
        </p:spPr>
        <p:txBody>
          <a:bodyPr anchorCtr="0" anchor="b" bIns="121900" lIns="121900" spcFirstLastPara="1" rIns="121900" wrap="square" tIns="121900">
            <a:normAutofit/>
          </a:bodyPr>
          <a:lstStyle>
            <a:lvl1pPr lvl="0" algn="ctr">
              <a:spcBef>
                <a:spcPts val="0"/>
              </a:spcBef>
              <a:spcAft>
                <a:spcPts val="0"/>
              </a:spcAft>
              <a:buClr>
                <a:schemeClr val="lt2"/>
              </a:buClr>
              <a:buSzPts val="5600"/>
              <a:buNone/>
              <a:defRPr>
                <a:solidFill>
                  <a:schemeClr val="lt2"/>
                </a:solidFill>
              </a:defRPr>
            </a:lvl1pPr>
            <a:lvl2pPr lvl="1" algn="ctr">
              <a:spcBef>
                <a:spcPts val="0"/>
              </a:spcBef>
              <a:spcAft>
                <a:spcPts val="0"/>
              </a:spcAft>
              <a:buClr>
                <a:schemeClr val="lt2"/>
              </a:buClr>
              <a:buSzPts val="5600"/>
              <a:buNone/>
              <a:defRPr>
                <a:solidFill>
                  <a:schemeClr val="lt2"/>
                </a:solidFill>
              </a:defRPr>
            </a:lvl2pPr>
            <a:lvl3pPr lvl="2" algn="ctr">
              <a:spcBef>
                <a:spcPts val="0"/>
              </a:spcBef>
              <a:spcAft>
                <a:spcPts val="0"/>
              </a:spcAft>
              <a:buClr>
                <a:schemeClr val="lt2"/>
              </a:buClr>
              <a:buSzPts val="5600"/>
              <a:buNone/>
              <a:defRPr>
                <a:solidFill>
                  <a:schemeClr val="lt2"/>
                </a:solidFill>
              </a:defRPr>
            </a:lvl3pPr>
            <a:lvl4pPr lvl="3" algn="ctr">
              <a:spcBef>
                <a:spcPts val="0"/>
              </a:spcBef>
              <a:spcAft>
                <a:spcPts val="0"/>
              </a:spcAft>
              <a:buClr>
                <a:schemeClr val="lt2"/>
              </a:buClr>
              <a:buSzPts val="5600"/>
              <a:buNone/>
              <a:defRPr>
                <a:solidFill>
                  <a:schemeClr val="lt2"/>
                </a:solidFill>
              </a:defRPr>
            </a:lvl4pPr>
            <a:lvl5pPr lvl="4" algn="ctr">
              <a:spcBef>
                <a:spcPts val="0"/>
              </a:spcBef>
              <a:spcAft>
                <a:spcPts val="0"/>
              </a:spcAft>
              <a:buClr>
                <a:schemeClr val="lt2"/>
              </a:buClr>
              <a:buSzPts val="5600"/>
              <a:buNone/>
              <a:defRPr>
                <a:solidFill>
                  <a:schemeClr val="lt2"/>
                </a:solidFill>
              </a:defRPr>
            </a:lvl5pPr>
            <a:lvl6pPr lvl="5" algn="ctr">
              <a:spcBef>
                <a:spcPts val="0"/>
              </a:spcBef>
              <a:spcAft>
                <a:spcPts val="0"/>
              </a:spcAft>
              <a:buClr>
                <a:schemeClr val="lt2"/>
              </a:buClr>
              <a:buSzPts val="5600"/>
              <a:buNone/>
              <a:defRPr>
                <a:solidFill>
                  <a:schemeClr val="lt2"/>
                </a:solidFill>
              </a:defRPr>
            </a:lvl6pPr>
            <a:lvl7pPr lvl="6" algn="ctr">
              <a:spcBef>
                <a:spcPts val="0"/>
              </a:spcBef>
              <a:spcAft>
                <a:spcPts val="0"/>
              </a:spcAft>
              <a:buClr>
                <a:schemeClr val="lt2"/>
              </a:buClr>
              <a:buSzPts val="5600"/>
              <a:buNone/>
              <a:defRPr>
                <a:solidFill>
                  <a:schemeClr val="lt2"/>
                </a:solidFill>
              </a:defRPr>
            </a:lvl7pPr>
            <a:lvl8pPr lvl="7" algn="ctr">
              <a:spcBef>
                <a:spcPts val="0"/>
              </a:spcBef>
              <a:spcAft>
                <a:spcPts val="0"/>
              </a:spcAft>
              <a:buClr>
                <a:schemeClr val="lt2"/>
              </a:buClr>
              <a:buSzPts val="5600"/>
              <a:buNone/>
              <a:defRPr>
                <a:solidFill>
                  <a:schemeClr val="lt2"/>
                </a:solidFill>
              </a:defRPr>
            </a:lvl8pPr>
            <a:lvl9pPr lvl="8" algn="ctr">
              <a:spcBef>
                <a:spcPts val="0"/>
              </a:spcBef>
              <a:spcAft>
                <a:spcPts val="0"/>
              </a:spcAft>
              <a:buClr>
                <a:schemeClr val="lt2"/>
              </a:buClr>
              <a:buSzPts val="5600"/>
              <a:buNone/>
              <a:defRPr>
                <a:solidFill>
                  <a:schemeClr val="lt2"/>
                </a:solidFill>
              </a:defRPr>
            </a:lvl9pPr>
          </a:lstStyle>
          <a:p/>
        </p:txBody>
      </p:sp>
      <p:sp>
        <p:nvSpPr>
          <p:cNvPr id="49" name="Google Shape;49;g2c242ad9053_0_433"/>
          <p:cNvSpPr txBox="1"/>
          <p:nvPr>
            <p:ph idx="1" type="subTitle"/>
          </p:nvPr>
        </p:nvSpPr>
        <p:spPr>
          <a:xfrm>
            <a:off x="354000" y="3692001"/>
            <a:ext cx="5393700" cy="2098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2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32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32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32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32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32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32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32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3200"/>
              <a:buFont typeface="Economica"/>
              <a:buNone/>
              <a:defRPr sz="3200">
                <a:latin typeface="Economica"/>
                <a:ea typeface="Economica"/>
                <a:cs typeface="Economica"/>
                <a:sym typeface="Economica"/>
              </a:defRPr>
            </a:lvl9pPr>
          </a:lstStyle>
          <a:p/>
        </p:txBody>
      </p:sp>
      <p:sp>
        <p:nvSpPr>
          <p:cNvPr id="50" name="Google Shape;50;g2c242ad9053_0_433"/>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51" name="Google Shape;51;g2c242ad9053_0_43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g2c242ad9053_0_440"/>
          <p:cNvSpPr txBox="1"/>
          <p:nvPr>
            <p:ph idx="1" type="body"/>
          </p:nvPr>
        </p:nvSpPr>
        <p:spPr>
          <a:xfrm>
            <a:off x="426000" y="5625233"/>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3200"/>
              <a:buFont typeface="Economica"/>
              <a:buNone/>
              <a:defRPr sz="3200">
                <a:latin typeface="Economica"/>
                <a:ea typeface="Economica"/>
                <a:cs typeface="Economica"/>
                <a:sym typeface="Economica"/>
              </a:defRPr>
            </a:lvl1pPr>
          </a:lstStyle>
          <a:p/>
        </p:txBody>
      </p:sp>
      <p:sp>
        <p:nvSpPr>
          <p:cNvPr id="54" name="Google Shape;54;g2c242ad9053_0_44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g2c242ad9053_0_443"/>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2c242ad9053_0_443"/>
          <p:cNvSpPr txBox="1"/>
          <p:nvPr>
            <p:ph hasCustomPrompt="1" type="title"/>
          </p:nvPr>
        </p:nvSpPr>
        <p:spPr>
          <a:xfrm>
            <a:off x="415600" y="1276167"/>
            <a:ext cx="11360700" cy="2838300"/>
          </a:xfrm>
          <a:prstGeom prst="rect">
            <a:avLst/>
          </a:prstGeom>
        </p:spPr>
        <p:txBody>
          <a:bodyPr anchorCtr="0" anchor="ctr" bIns="121900" lIns="121900" spcFirstLastPara="1" rIns="121900" wrap="square" tIns="121900">
            <a:normAutofit/>
          </a:bodyPr>
          <a:lstStyle>
            <a:lvl1pPr lvl="0" algn="ctr">
              <a:spcBef>
                <a:spcPts val="0"/>
              </a:spcBef>
              <a:spcAft>
                <a:spcPts val="0"/>
              </a:spcAft>
              <a:buClr>
                <a:schemeClr val="lt2"/>
              </a:buClr>
              <a:buSzPts val="21300"/>
              <a:buNone/>
              <a:defRPr sz="21300">
                <a:solidFill>
                  <a:schemeClr val="lt2"/>
                </a:solidFill>
              </a:defRPr>
            </a:lvl1pPr>
            <a:lvl2pPr lvl="1" algn="ctr">
              <a:spcBef>
                <a:spcPts val="0"/>
              </a:spcBef>
              <a:spcAft>
                <a:spcPts val="0"/>
              </a:spcAft>
              <a:buClr>
                <a:schemeClr val="lt2"/>
              </a:buClr>
              <a:buSzPts val="21300"/>
              <a:buNone/>
              <a:defRPr sz="21300">
                <a:solidFill>
                  <a:schemeClr val="lt2"/>
                </a:solidFill>
              </a:defRPr>
            </a:lvl2pPr>
            <a:lvl3pPr lvl="2" algn="ctr">
              <a:spcBef>
                <a:spcPts val="0"/>
              </a:spcBef>
              <a:spcAft>
                <a:spcPts val="0"/>
              </a:spcAft>
              <a:buClr>
                <a:schemeClr val="lt2"/>
              </a:buClr>
              <a:buSzPts val="21300"/>
              <a:buNone/>
              <a:defRPr sz="21300">
                <a:solidFill>
                  <a:schemeClr val="lt2"/>
                </a:solidFill>
              </a:defRPr>
            </a:lvl3pPr>
            <a:lvl4pPr lvl="3" algn="ctr">
              <a:spcBef>
                <a:spcPts val="0"/>
              </a:spcBef>
              <a:spcAft>
                <a:spcPts val="0"/>
              </a:spcAft>
              <a:buClr>
                <a:schemeClr val="lt2"/>
              </a:buClr>
              <a:buSzPts val="21300"/>
              <a:buNone/>
              <a:defRPr sz="21300">
                <a:solidFill>
                  <a:schemeClr val="lt2"/>
                </a:solidFill>
              </a:defRPr>
            </a:lvl4pPr>
            <a:lvl5pPr lvl="4" algn="ctr">
              <a:spcBef>
                <a:spcPts val="0"/>
              </a:spcBef>
              <a:spcAft>
                <a:spcPts val="0"/>
              </a:spcAft>
              <a:buClr>
                <a:schemeClr val="lt2"/>
              </a:buClr>
              <a:buSzPts val="21300"/>
              <a:buNone/>
              <a:defRPr sz="21300">
                <a:solidFill>
                  <a:schemeClr val="lt2"/>
                </a:solidFill>
              </a:defRPr>
            </a:lvl5pPr>
            <a:lvl6pPr lvl="5" algn="ctr">
              <a:spcBef>
                <a:spcPts val="0"/>
              </a:spcBef>
              <a:spcAft>
                <a:spcPts val="0"/>
              </a:spcAft>
              <a:buClr>
                <a:schemeClr val="lt2"/>
              </a:buClr>
              <a:buSzPts val="21300"/>
              <a:buNone/>
              <a:defRPr sz="21300">
                <a:solidFill>
                  <a:schemeClr val="lt2"/>
                </a:solidFill>
              </a:defRPr>
            </a:lvl6pPr>
            <a:lvl7pPr lvl="6" algn="ctr">
              <a:spcBef>
                <a:spcPts val="0"/>
              </a:spcBef>
              <a:spcAft>
                <a:spcPts val="0"/>
              </a:spcAft>
              <a:buClr>
                <a:schemeClr val="lt2"/>
              </a:buClr>
              <a:buSzPts val="21300"/>
              <a:buNone/>
              <a:defRPr sz="21300">
                <a:solidFill>
                  <a:schemeClr val="lt2"/>
                </a:solidFill>
              </a:defRPr>
            </a:lvl7pPr>
            <a:lvl8pPr lvl="7" algn="ctr">
              <a:spcBef>
                <a:spcPts val="0"/>
              </a:spcBef>
              <a:spcAft>
                <a:spcPts val="0"/>
              </a:spcAft>
              <a:buClr>
                <a:schemeClr val="lt2"/>
              </a:buClr>
              <a:buSzPts val="21300"/>
              <a:buNone/>
              <a:defRPr sz="21300">
                <a:solidFill>
                  <a:schemeClr val="lt2"/>
                </a:solidFill>
              </a:defRPr>
            </a:lvl8pPr>
            <a:lvl9pPr lvl="8" algn="ctr">
              <a:spcBef>
                <a:spcPts val="0"/>
              </a:spcBef>
              <a:spcAft>
                <a:spcPts val="0"/>
              </a:spcAft>
              <a:buClr>
                <a:schemeClr val="lt2"/>
              </a:buClr>
              <a:buSzPts val="21300"/>
              <a:buNone/>
              <a:defRPr sz="21300">
                <a:solidFill>
                  <a:schemeClr val="lt2"/>
                </a:solidFill>
              </a:defRPr>
            </a:lvl9pPr>
          </a:lstStyle>
          <a:p>
            <a:r>
              <a:t>xx%</a:t>
            </a:r>
          </a:p>
        </p:txBody>
      </p:sp>
      <p:sp>
        <p:nvSpPr>
          <p:cNvPr id="58" name="Google Shape;58;g2c242ad9053_0_443"/>
          <p:cNvSpPr txBox="1"/>
          <p:nvPr>
            <p:ph idx="1" type="body"/>
          </p:nvPr>
        </p:nvSpPr>
        <p:spPr>
          <a:xfrm>
            <a:off x="415600" y="4216000"/>
            <a:ext cx="11360700" cy="14289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9" name="Google Shape;59;g2c242ad9053_0_44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g2c242ad9053_0_44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g2c242ad9053_0_4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5600"/>
              <a:buNone/>
              <a:defRPr/>
            </a:lvl2pPr>
            <a:lvl3pPr lvl="2" rtl="0">
              <a:spcBef>
                <a:spcPts val="0"/>
              </a:spcBef>
              <a:spcAft>
                <a:spcPts val="0"/>
              </a:spcAft>
              <a:buSzPts val="5600"/>
              <a:buNone/>
              <a:defRPr/>
            </a:lvl3pPr>
            <a:lvl4pPr lvl="3" rtl="0">
              <a:spcBef>
                <a:spcPts val="0"/>
              </a:spcBef>
              <a:spcAft>
                <a:spcPts val="0"/>
              </a:spcAft>
              <a:buSzPts val="5600"/>
              <a:buNone/>
              <a:defRPr/>
            </a:lvl4pPr>
            <a:lvl5pPr lvl="4" rtl="0">
              <a:spcBef>
                <a:spcPts val="0"/>
              </a:spcBef>
              <a:spcAft>
                <a:spcPts val="0"/>
              </a:spcAft>
              <a:buSzPts val="5600"/>
              <a:buNone/>
              <a:defRPr/>
            </a:lvl5pPr>
            <a:lvl6pPr lvl="5" rtl="0">
              <a:spcBef>
                <a:spcPts val="0"/>
              </a:spcBef>
              <a:spcAft>
                <a:spcPts val="0"/>
              </a:spcAft>
              <a:buSzPts val="5600"/>
              <a:buNone/>
              <a:defRPr/>
            </a:lvl6pPr>
            <a:lvl7pPr lvl="6" rtl="0">
              <a:spcBef>
                <a:spcPts val="0"/>
              </a:spcBef>
              <a:spcAft>
                <a:spcPts val="0"/>
              </a:spcAft>
              <a:buSzPts val="5600"/>
              <a:buNone/>
              <a:defRPr/>
            </a:lvl7pPr>
            <a:lvl8pPr lvl="7" rtl="0">
              <a:spcBef>
                <a:spcPts val="0"/>
              </a:spcBef>
              <a:spcAft>
                <a:spcPts val="0"/>
              </a:spcAft>
              <a:buSzPts val="5600"/>
              <a:buNone/>
              <a:defRPr/>
            </a:lvl8pPr>
            <a:lvl9pPr lvl="8" rtl="0">
              <a:spcBef>
                <a:spcPts val="0"/>
              </a:spcBef>
              <a:spcAft>
                <a:spcPts val="0"/>
              </a:spcAft>
              <a:buSzPts val="5600"/>
              <a:buNone/>
              <a:defRPr/>
            </a:lvl9pPr>
          </a:lstStyle>
          <a:p/>
        </p:txBody>
      </p:sp>
      <p:sp>
        <p:nvSpPr>
          <p:cNvPr id="64" name="Google Shape;64;g2c242ad9053_0_45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1600"/>
              </a:spcBef>
              <a:spcAft>
                <a:spcPts val="0"/>
              </a:spcAft>
              <a:buClr>
                <a:schemeClr val="dk1"/>
              </a:buClr>
              <a:buSzPts val="1800"/>
              <a:buChar char="○"/>
              <a:defRPr/>
            </a:lvl2pPr>
            <a:lvl3pPr indent="-342900" lvl="2" marL="1371600" rtl="0" algn="l">
              <a:lnSpc>
                <a:spcPct val="90000"/>
              </a:lnSpc>
              <a:spcBef>
                <a:spcPts val="1600"/>
              </a:spcBef>
              <a:spcAft>
                <a:spcPts val="0"/>
              </a:spcAft>
              <a:buClr>
                <a:schemeClr val="dk1"/>
              </a:buClr>
              <a:buSzPts val="1800"/>
              <a:buChar char="■"/>
              <a:defRPr/>
            </a:lvl3pPr>
            <a:lvl4pPr indent="-342900" lvl="3" marL="1828800" rtl="0" algn="l">
              <a:lnSpc>
                <a:spcPct val="90000"/>
              </a:lnSpc>
              <a:spcBef>
                <a:spcPts val="1600"/>
              </a:spcBef>
              <a:spcAft>
                <a:spcPts val="0"/>
              </a:spcAft>
              <a:buClr>
                <a:schemeClr val="dk1"/>
              </a:buClr>
              <a:buSzPts val="1800"/>
              <a:buChar char="●"/>
              <a:defRPr/>
            </a:lvl4pPr>
            <a:lvl5pPr indent="-342900" lvl="4" marL="2286000" rtl="0" algn="l">
              <a:lnSpc>
                <a:spcPct val="90000"/>
              </a:lnSpc>
              <a:spcBef>
                <a:spcPts val="1600"/>
              </a:spcBef>
              <a:spcAft>
                <a:spcPts val="0"/>
              </a:spcAft>
              <a:buClr>
                <a:schemeClr val="dk1"/>
              </a:buClr>
              <a:buSzPts val="1800"/>
              <a:buChar char="○"/>
              <a:defRPr/>
            </a:lvl5pPr>
            <a:lvl6pPr indent="-342900" lvl="5" marL="2743200" rtl="0" algn="l">
              <a:lnSpc>
                <a:spcPct val="90000"/>
              </a:lnSpc>
              <a:spcBef>
                <a:spcPts val="1600"/>
              </a:spcBef>
              <a:spcAft>
                <a:spcPts val="0"/>
              </a:spcAft>
              <a:buClr>
                <a:schemeClr val="dk1"/>
              </a:buClr>
              <a:buSzPts val="1800"/>
              <a:buChar char="■"/>
              <a:defRPr/>
            </a:lvl6pPr>
            <a:lvl7pPr indent="-342900" lvl="6" marL="3200400" rtl="0" algn="l">
              <a:lnSpc>
                <a:spcPct val="90000"/>
              </a:lnSpc>
              <a:spcBef>
                <a:spcPts val="1600"/>
              </a:spcBef>
              <a:spcAft>
                <a:spcPts val="0"/>
              </a:spcAft>
              <a:buClr>
                <a:schemeClr val="dk1"/>
              </a:buClr>
              <a:buSzPts val="1800"/>
              <a:buChar char="●"/>
              <a:defRPr/>
            </a:lvl7pPr>
            <a:lvl8pPr indent="-342900" lvl="7" marL="3657600" rtl="0" algn="l">
              <a:lnSpc>
                <a:spcPct val="90000"/>
              </a:lnSpc>
              <a:spcBef>
                <a:spcPts val="1600"/>
              </a:spcBef>
              <a:spcAft>
                <a:spcPts val="0"/>
              </a:spcAft>
              <a:buClr>
                <a:schemeClr val="dk1"/>
              </a:buClr>
              <a:buSzPts val="1800"/>
              <a:buChar char="○"/>
              <a:defRPr/>
            </a:lvl8pPr>
            <a:lvl9pPr indent="-342900" lvl="8" marL="4114800" rtl="0" algn="l">
              <a:lnSpc>
                <a:spcPct val="90000"/>
              </a:lnSpc>
              <a:spcBef>
                <a:spcPts val="1600"/>
              </a:spcBef>
              <a:spcAft>
                <a:spcPts val="1600"/>
              </a:spcAft>
              <a:buClr>
                <a:schemeClr val="dk1"/>
              </a:buClr>
              <a:buSzPts val="1800"/>
              <a:buChar char="■"/>
              <a:defRPr/>
            </a:lvl9pPr>
          </a:lstStyle>
          <a:p/>
        </p:txBody>
      </p:sp>
      <p:sp>
        <p:nvSpPr>
          <p:cNvPr id="65" name="Google Shape;65;g2c242ad9053_0_45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6" name="Google Shape;66;g2c242ad9053_0_45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7" name="Google Shape;67;g2c242ad9053_0_45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9" name="Shape 9"/>
        <p:cNvGrpSpPr/>
        <p:nvPr/>
      </p:nvGrpSpPr>
      <p:grpSpPr>
        <a:xfrm>
          <a:off x="0" y="0"/>
          <a:ext cx="0" cy="0"/>
          <a:chOff x="0" y="0"/>
          <a:chExt cx="0" cy="0"/>
        </a:xfrm>
      </p:grpSpPr>
      <p:sp>
        <p:nvSpPr>
          <p:cNvPr id="10" name="Google Shape;10;g2c242ad9053_0_397"/>
          <p:cNvSpPr txBox="1"/>
          <p:nvPr>
            <p:ph type="title"/>
          </p:nvPr>
        </p:nvSpPr>
        <p:spPr>
          <a:xfrm>
            <a:off x="415600" y="421233"/>
            <a:ext cx="11360700" cy="1108500"/>
          </a:xfrm>
          <a:prstGeom prst="rect">
            <a:avLst/>
          </a:prstGeom>
          <a:noFill/>
          <a:ln>
            <a:noFill/>
          </a:ln>
        </p:spPr>
        <p:txBody>
          <a:bodyPr anchorCtr="0" anchor="b" bIns="121900" lIns="121900" spcFirstLastPara="1" rIns="121900" wrap="square" tIns="121900">
            <a:normAutofit/>
          </a:bodyPr>
          <a:lstStyle>
            <a:lvl1pPr lvl="0">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1pPr>
            <a:lvl2pPr lvl="1">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2pPr>
            <a:lvl3pPr lvl="2">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3pPr>
            <a:lvl4pPr lvl="3">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4pPr>
            <a:lvl5pPr lvl="4">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5pPr>
            <a:lvl6pPr lvl="5">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6pPr>
            <a:lvl7pPr lvl="6">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7pPr>
            <a:lvl8pPr lvl="7">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8pPr>
            <a:lvl9pPr lvl="8">
              <a:spcBef>
                <a:spcPts val="0"/>
              </a:spcBef>
              <a:spcAft>
                <a:spcPts val="0"/>
              </a:spcAft>
              <a:buClr>
                <a:schemeClr val="dk1"/>
              </a:buClr>
              <a:buSzPts val="5600"/>
              <a:buFont typeface="Economica"/>
              <a:buNone/>
              <a:defRPr sz="5600">
                <a:solidFill>
                  <a:schemeClr val="dk1"/>
                </a:solidFill>
                <a:latin typeface="Economica"/>
                <a:ea typeface="Economica"/>
                <a:cs typeface="Economica"/>
                <a:sym typeface="Economica"/>
              </a:defRPr>
            </a:lvl9pPr>
          </a:lstStyle>
          <a:p/>
        </p:txBody>
      </p:sp>
      <p:sp>
        <p:nvSpPr>
          <p:cNvPr id="11" name="Google Shape;11;g2c242ad9053_0_397"/>
          <p:cNvSpPr txBox="1"/>
          <p:nvPr>
            <p:ph idx="1" type="body"/>
          </p:nvPr>
        </p:nvSpPr>
        <p:spPr>
          <a:xfrm>
            <a:off x="415600" y="1633633"/>
            <a:ext cx="11360700" cy="44721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1"/>
              </a:buClr>
              <a:buSzPts val="2400"/>
              <a:buFont typeface="Open Sans"/>
              <a:buChar char="●"/>
              <a:defRPr sz="2400">
                <a:solidFill>
                  <a:schemeClr val="dk1"/>
                </a:solidFill>
                <a:latin typeface="Open Sans"/>
                <a:ea typeface="Open Sans"/>
                <a:cs typeface="Open Sans"/>
                <a:sym typeface="Open Sans"/>
              </a:defRPr>
            </a:lvl1pPr>
            <a:lvl2pPr indent="-349250" lvl="1" marL="9144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2pPr>
            <a:lvl3pPr indent="-349250" lvl="2" marL="13716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3pPr>
            <a:lvl4pPr indent="-349250" lvl="3" marL="18288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4pPr>
            <a:lvl5pPr indent="-349250" lvl="4" marL="22860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5pPr>
            <a:lvl6pPr indent="-349250" lvl="5" marL="27432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6pPr>
            <a:lvl7pPr indent="-349250" lvl="6" marL="32004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7pPr>
            <a:lvl8pPr indent="-349250" lvl="7" marL="36576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8pPr>
            <a:lvl9pPr indent="-349250" lvl="8" marL="4114800">
              <a:lnSpc>
                <a:spcPct val="115000"/>
              </a:lnSpc>
              <a:spcBef>
                <a:spcPts val="0"/>
              </a:spcBef>
              <a:spcAft>
                <a:spcPts val="0"/>
              </a:spcAft>
              <a:buClr>
                <a:schemeClr val="dk1"/>
              </a:buClr>
              <a:buSzPts val="1900"/>
              <a:buFont typeface="Open Sans"/>
              <a:buChar char="■"/>
              <a:defRPr sz="1900">
                <a:solidFill>
                  <a:schemeClr val="dk1"/>
                </a:solidFill>
                <a:latin typeface="Open Sans"/>
                <a:ea typeface="Open Sans"/>
                <a:cs typeface="Open Sans"/>
                <a:sym typeface="Open Sans"/>
              </a:defRPr>
            </a:lvl9pPr>
          </a:lstStyle>
          <a:p/>
        </p:txBody>
      </p:sp>
      <p:sp>
        <p:nvSpPr>
          <p:cNvPr id="12" name="Google Shape;12;g2c242ad9053_0_39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1"/>
                </a:solidFill>
                <a:latin typeface="Economica"/>
                <a:ea typeface="Economica"/>
                <a:cs typeface="Economica"/>
                <a:sym typeface="Economica"/>
              </a:defRPr>
            </a:lvl1pPr>
            <a:lvl2pPr lvl="1" algn="r">
              <a:buNone/>
              <a:defRPr sz="1300">
                <a:solidFill>
                  <a:schemeClr val="dk1"/>
                </a:solidFill>
                <a:latin typeface="Economica"/>
                <a:ea typeface="Economica"/>
                <a:cs typeface="Economica"/>
                <a:sym typeface="Economica"/>
              </a:defRPr>
            </a:lvl2pPr>
            <a:lvl3pPr lvl="2" algn="r">
              <a:buNone/>
              <a:defRPr sz="1300">
                <a:solidFill>
                  <a:schemeClr val="dk1"/>
                </a:solidFill>
                <a:latin typeface="Economica"/>
                <a:ea typeface="Economica"/>
                <a:cs typeface="Economica"/>
                <a:sym typeface="Economica"/>
              </a:defRPr>
            </a:lvl3pPr>
            <a:lvl4pPr lvl="3" algn="r">
              <a:buNone/>
              <a:defRPr sz="1300">
                <a:solidFill>
                  <a:schemeClr val="dk1"/>
                </a:solidFill>
                <a:latin typeface="Economica"/>
                <a:ea typeface="Economica"/>
                <a:cs typeface="Economica"/>
                <a:sym typeface="Economica"/>
              </a:defRPr>
            </a:lvl4pPr>
            <a:lvl5pPr lvl="4" algn="r">
              <a:buNone/>
              <a:defRPr sz="1300">
                <a:solidFill>
                  <a:schemeClr val="dk1"/>
                </a:solidFill>
                <a:latin typeface="Economica"/>
                <a:ea typeface="Economica"/>
                <a:cs typeface="Economica"/>
                <a:sym typeface="Economica"/>
              </a:defRPr>
            </a:lvl5pPr>
            <a:lvl6pPr lvl="5" algn="r">
              <a:buNone/>
              <a:defRPr sz="1300">
                <a:solidFill>
                  <a:schemeClr val="dk1"/>
                </a:solidFill>
                <a:latin typeface="Economica"/>
                <a:ea typeface="Economica"/>
                <a:cs typeface="Economica"/>
                <a:sym typeface="Economica"/>
              </a:defRPr>
            </a:lvl6pPr>
            <a:lvl7pPr lvl="6" algn="r">
              <a:buNone/>
              <a:defRPr sz="1300">
                <a:solidFill>
                  <a:schemeClr val="dk1"/>
                </a:solidFill>
                <a:latin typeface="Economica"/>
                <a:ea typeface="Economica"/>
                <a:cs typeface="Economica"/>
                <a:sym typeface="Economica"/>
              </a:defRPr>
            </a:lvl7pPr>
            <a:lvl8pPr lvl="7" algn="r">
              <a:buNone/>
              <a:defRPr sz="1300">
                <a:solidFill>
                  <a:schemeClr val="dk1"/>
                </a:solidFill>
                <a:latin typeface="Economica"/>
                <a:ea typeface="Economica"/>
                <a:cs typeface="Economica"/>
                <a:sym typeface="Economica"/>
              </a:defRPr>
            </a:lvl8pPr>
            <a:lvl9pPr lvl="8" algn="r">
              <a:buNone/>
              <a:defRPr sz="13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
          <p:cNvSpPr txBox="1"/>
          <p:nvPr>
            <p:ph type="ctrTitle"/>
          </p:nvPr>
        </p:nvSpPr>
        <p:spPr>
          <a:xfrm>
            <a:off x="1893900" y="2220000"/>
            <a:ext cx="8404200" cy="18738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666666"/>
              </a:buClr>
              <a:buSzPts val="3100"/>
              <a:buFont typeface="Lato"/>
              <a:buNone/>
            </a:pPr>
            <a:r>
              <a:t/>
            </a:r>
            <a:endParaRPr b="1" sz="7400"/>
          </a:p>
          <a:p>
            <a:pPr indent="0" lvl="0" marL="0" rtl="0" algn="ctr">
              <a:lnSpc>
                <a:spcPct val="90000"/>
              </a:lnSpc>
              <a:spcBef>
                <a:spcPts val="0"/>
              </a:spcBef>
              <a:spcAft>
                <a:spcPts val="0"/>
              </a:spcAft>
              <a:buClr>
                <a:srgbClr val="666666"/>
              </a:buClr>
              <a:buSzPts val="3100"/>
              <a:buFont typeface="Lato"/>
              <a:buNone/>
            </a:pPr>
            <a:r>
              <a:t/>
            </a:r>
            <a:endParaRPr b="1" sz="7400"/>
          </a:p>
          <a:p>
            <a:pPr indent="0" lvl="0" marL="0" rtl="0" algn="ctr">
              <a:lnSpc>
                <a:spcPct val="90000"/>
              </a:lnSpc>
              <a:spcBef>
                <a:spcPts val="0"/>
              </a:spcBef>
              <a:spcAft>
                <a:spcPts val="0"/>
              </a:spcAft>
              <a:buClr>
                <a:srgbClr val="666666"/>
              </a:buClr>
              <a:buSzPts val="3100"/>
              <a:buFont typeface="Lato"/>
              <a:buNone/>
            </a:pPr>
            <a:r>
              <a:rPr b="1" lang="en-US" sz="7400"/>
              <a:t>ECON </a:t>
            </a:r>
            <a:endParaRPr b="1" sz="7400"/>
          </a:p>
          <a:p>
            <a:pPr indent="0" lvl="0" marL="0" rtl="0" algn="ctr">
              <a:lnSpc>
                <a:spcPct val="90000"/>
              </a:lnSpc>
              <a:spcBef>
                <a:spcPts val="0"/>
              </a:spcBef>
              <a:spcAft>
                <a:spcPts val="0"/>
              </a:spcAft>
              <a:buClr>
                <a:srgbClr val="666666"/>
              </a:buClr>
              <a:buSzPts val="3100"/>
              <a:buFont typeface="Lato"/>
              <a:buNone/>
            </a:pPr>
            <a:r>
              <a:rPr b="1" lang="en-US" sz="7400"/>
              <a:t>Mavericks</a:t>
            </a:r>
            <a:endParaRPr b="1" sz="7400"/>
          </a:p>
          <a:p>
            <a:pPr indent="0" lvl="0" marL="0" rtl="0" algn="ctr">
              <a:lnSpc>
                <a:spcPct val="90000"/>
              </a:lnSpc>
              <a:spcBef>
                <a:spcPts val="0"/>
              </a:spcBef>
              <a:spcAft>
                <a:spcPts val="0"/>
              </a:spcAft>
              <a:buClr>
                <a:srgbClr val="666666"/>
              </a:buClr>
              <a:buSzPts val="3100"/>
              <a:buFont typeface="Lato"/>
              <a:buNone/>
            </a:pPr>
            <a:r>
              <a:t/>
            </a:r>
            <a:endParaRPr b="1" sz="7400">
              <a:solidFill>
                <a:srgbClr val="666666"/>
              </a:solidFill>
            </a:endParaRPr>
          </a:p>
          <a:p>
            <a:pPr indent="0" lvl="0" marL="0" rtl="0" algn="l">
              <a:lnSpc>
                <a:spcPct val="90000"/>
              </a:lnSpc>
              <a:spcBef>
                <a:spcPts val="0"/>
              </a:spcBef>
              <a:spcAft>
                <a:spcPts val="0"/>
              </a:spcAft>
              <a:buClr>
                <a:srgbClr val="666666"/>
              </a:buClr>
              <a:buSzPts val="3100"/>
              <a:buFont typeface="Lato"/>
              <a:buNone/>
            </a:pPr>
            <a:r>
              <a:t/>
            </a:r>
            <a:endParaRPr b="1" sz="7400">
              <a:solidFill>
                <a:srgbClr val="66666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2c154ad4d96_0_0"/>
          <p:cNvSpPr txBox="1"/>
          <p:nvPr>
            <p:ph type="title"/>
          </p:nvPr>
        </p:nvSpPr>
        <p:spPr>
          <a:xfrm>
            <a:off x="838200" y="115300"/>
            <a:ext cx="10515600" cy="582000"/>
          </a:xfrm>
          <a:prstGeom prst="rect">
            <a:avLst/>
          </a:prstGeom>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Introduction</a:t>
            </a:r>
            <a:endParaRPr/>
          </a:p>
        </p:txBody>
      </p:sp>
      <p:sp>
        <p:nvSpPr>
          <p:cNvPr id="80" name="Google Shape;80;g2c154ad4d96_0_0"/>
          <p:cNvSpPr txBox="1"/>
          <p:nvPr>
            <p:ph idx="1" type="body"/>
          </p:nvPr>
        </p:nvSpPr>
        <p:spPr>
          <a:xfrm>
            <a:off x="838200" y="1305200"/>
            <a:ext cx="10515600" cy="5253300"/>
          </a:xfrm>
          <a:prstGeom prst="rect">
            <a:avLst/>
          </a:prstGeom>
        </p:spPr>
        <p:txBody>
          <a:bodyPr anchorCtr="0" anchor="t" bIns="45700" lIns="91425" spcFirstLastPara="1" rIns="91425" wrap="square" tIns="45700">
            <a:normAutofit fontScale="92500" lnSpcReduction="20000"/>
          </a:bodyPr>
          <a:lstStyle/>
          <a:p>
            <a:pPr indent="0" lvl="0" marL="0" rtl="0" algn="l">
              <a:lnSpc>
                <a:spcPct val="150000"/>
              </a:lnSpc>
              <a:spcBef>
                <a:spcPts val="1000"/>
              </a:spcBef>
              <a:spcAft>
                <a:spcPts val="0"/>
              </a:spcAft>
              <a:buNone/>
            </a:pPr>
            <a:r>
              <a:rPr b="1" lang="en-US" sz="1400"/>
              <a:t>What is Econometric Modeling?</a:t>
            </a:r>
            <a:endParaRPr b="1" sz="1400"/>
          </a:p>
          <a:p>
            <a:pPr indent="-310832" lvl="0" marL="457200" rtl="0" algn="l">
              <a:lnSpc>
                <a:spcPct val="150000"/>
              </a:lnSpc>
              <a:spcBef>
                <a:spcPts val="1600"/>
              </a:spcBef>
              <a:spcAft>
                <a:spcPts val="0"/>
              </a:spcAft>
              <a:buSzPct val="100000"/>
              <a:buChar char="●"/>
            </a:pPr>
            <a:r>
              <a:rPr lang="en-US" sz="1400"/>
              <a:t>Econometric Modelling brings mathematical and statistical methods to economic theory not only to estimate and test them, but also forecast trends, evaluate impact of policies or interventions. </a:t>
            </a:r>
            <a:endParaRPr sz="1400"/>
          </a:p>
          <a:p>
            <a:pPr indent="0" lvl="0" marL="0" rtl="0" algn="l">
              <a:lnSpc>
                <a:spcPct val="150000"/>
              </a:lnSpc>
              <a:spcBef>
                <a:spcPts val="1600"/>
              </a:spcBef>
              <a:spcAft>
                <a:spcPts val="0"/>
              </a:spcAft>
              <a:buNone/>
            </a:pPr>
            <a:r>
              <a:rPr b="1" lang="en-US" sz="1400"/>
              <a:t>What is our endeavour here?</a:t>
            </a:r>
            <a:endParaRPr b="1" sz="1400"/>
          </a:p>
          <a:p>
            <a:pPr indent="-310832" lvl="0" marL="457200" rtl="0" algn="l">
              <a:lnSpc>
                <a:spcPct val="150000"/>
              </a:lnSpc>
              <a:spcBef>
                <a:spcPts val="1600"/>
              </a:spcBef>
              <a:spcAft>
                <a:spcPts val="0"/>
              </a:spcAft>
              <a:buSzPct val="100000"/>
              <a:buChar char="●"/>
            </a:pPr>
            <a:r>
              <a:rPr lang="en-US" sz="1400"/>
              <a:t>Assess different factors of Labor market and its effect on Wage Earnings</a:t>
            </a:r>
            <a:endParaRPr sz="1400"/>
          </a:p>
          <a:p>
            <a:pPr indent="-310832" lvl="0" marL="457200" rtl="0" algn="l">
              <a:lnSpc>
                <a:spcPct val="150000"/>
              </a:lnSpc>
              <a:spcBef>
                <a:spcPts val="0"/>
              </a:spcBef>
              <a:spcAft>
                <a:spcPts val="0"/>
              </a:spcAft>
              <a:buSzPct val="100000"/>
              <a:buChar char="●"/>
            </a:pPr>
            <a:r>
              <a:rPr lang="en-US" sz="1400"/>
              <a:t>Provide insights and policy implications</a:t>
            </a:r>
            <a:endParaRPr sz="1400"/>
          </a:p>
          <a:p>
            <a:pPr indent="0" lvl="0" marL="0" rtl="0" algn="l">
              <a:lnSpc>
                <a:spcPct val="150000"/>
              </a:lnSpc>
              <a:spcBef>
                <a:spcPts val="1600"/>
              </a:spcBef>
              <a:spcAft>
                <a:spcPts val="0"/>
              </a:spcAft>
              <a:buNone/>
            </a:pPr>
            <a:r>
              <a:rPr b="1" lang="en-US" sz="1400"/>
              <a:t>What dataset did we choose?</a:t>
            </a:r>
            <a:endParaRPr b="1" sz="1400"/>
          </a:p>
          <a:p>
            <a:pPr indent="-310832" lvl="0" marL="457200" rtl="0" algn="l">
              <a:lnSpc>
                <a:spcPct val="150000"/>
              </a:lnSpc>
              <a:spcBef>
                <a:spcPts val="1600"/>
              </a:spcBef>
              <a:spcAft>
                <a:spcPts val="0"/>
              </a:spcAft>
              <a:buSzPct val="100000"/>
              <a:buChar char="●"/>
            </a:pPr>
            <a:r>
              <a:rPr lang="en-US" sz="1400"/>
              <a:t>PUMS Data-set - Public Use Microdata Sample, provided by United States Census Bureau</a:t>
            </a:r>
            <a:endParaRPr sz="1400"/>
          </a:p>
          <a:p>
            <a:pPr indent="-310832" lvl="1" marL="914400" rtl="0" algn="l">
              <a:lnSpc>
                <a:spcPct val="150000"/>
              </a:lnSpc>
              <a:spcBef>
                <a:spcPts val="0"/>
              </a:spcBef>
              <a:spcAft>
                <a:spcPts val="0"/>
              </a:spcAft>
              <a:buSzPct val="100000"/>
              <a:buChar char="○"/>
            </a:pPr>
            <a:r>
              <a:rPr lang="en-US" sz="1400"/>
              <a:t>Part of the decennial US census or the American Community Survey</a:t>
            </a:r>
            <a:endParaRPr sz="1400"/>
          </a:p>
          <a:p>
            <a:pPr indent="-310832" lvl="1" marL="914400" rtl="0" algn="l">
              <a:lnSpc>
                <a:spcPct val="150000"/>
              </a:lnSpc>
              <a:spcBef>
                <a:spcPts val="0"/>
              </a:spcBef>
              <a:spcAft>
                <a:spcPts val="0"/>
              </a:spcAft>
              <a:buSzPct val="100000"/>
              <a:buChar char="○"/>
            </a:pPr>
            <a:r>
              <a:rPr lang="en-US" sz="1400"/>
              <a:t>Anonymised publicly available dataset</a:t>
            </a:r>
            <a:endParaRPr sz="1400"/>
          </a:p>
          <a:p>
            <a:pPr indent="-310832" lvl="1" marL="914400" rtl="0" algn="l">
              <a:lnSpc>
                <a:spcPct val="150000"/>
              </a:lnSpc>
              <a:spcBef>
                <a:spcPts val="0"/>
              </a:spcBef>
              <a:spcAft>
                <a:spcPts val="0"/>
              </a:spcAft>
              <a:buSzPct val="100000"/>
              <a:buChar char="○"/>
            </a:pPr>
            <a:r>
              <a:rPr lang="en-US" sz="1400"/>
              <a:t>Offers diverse parameters from demographic to socioeconomic </a:t>
            </a:r>
            <a:r>
              <a:rPr lang="en-US" sz="1400"/>
              <a:t>characteristics</a:t>
            </a:r>
            <a:endParaRPr sz="1400"/>
          </a:p>
          <a:p>
            <a:pPr indent="-310832" lvl="1" marL="914400" rtl="0" algn="l">
              <a:lnSpc>
                <a:spcPct val="150000"/>
              </a:lnSpc>
              <a:spcBef>
                <a:spcPts val="0"/>
              </a:spcBef>
              <a:spcAft>
                <a:spcPts val="0"/>
              </a:spcAft>
              <a:buSzPct val="100000"/>
              <a:buChar char="○"/>
            </a:pPr>
            <a:r>
              <a:rPr lang="en-US" sz="1400"/>
              <a:t>Scope for analysis include: Wage inequality, occupational segmentation, workforce diversity and labor market dynamics</a:t>
            </a:r>
            <a:endParaRPr sz="1400"/>
          </a:p>
          <a:p>
            <a:pPr indent="-310832" lvl="0" marL="457200" rtl="0" algn="l">
              <a:lnSpc>
                <a:spcPct val="150000"/>
              </a:lnSpc>
              <a:spcBef>
                <a:spcPts val="0"/>
              </a:spcBef>
              <a:spcAft>
                <a:spcPts val="0"/>
              </a:spcAft>
              <a:buSzPct val="100000"/>
              <a:buChar char="●"/>
            </a:pPr>
            <a:r>
              <a:rPr lang="en-US" sz="1400"/>
              <a:t>We choose State of California for our analysis, as it is the powerhouse of US Economic Growth engine, and is also home to a very diverse population mix</a:t>
            </a:r>
            <a:endParaRPr sz="1400"/>
          </a:p>
          <a:p>
            <a:pPr indent="0" lvl="0" marL="0" rtl="0" algn="l">
              <a:spcBef>
                <a:spcPts val="1600"/>
              </a:spcBef>
              <a:spcAft>
                <a:spcPts val="160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2c1eb690462_1_86"/>
          <p:cNvSpPr txBox="1"/>
          <p:nvPr>
            <p:ph idx="1" type="body"/>
          </p:nvPr>
        </p:nvSpPr>
        <p:spPr>
          <a:xfrm>
            <a:off x="838200" y="1735050"/>
            <a:ext cx="10515600" cy="3387900"/>
          </a:xfrm>
          <a:prstGeom prst="rect">
            <a:avLst/>
          </a:prstGeom>
        </p:spPr>
        <p:txBody>
          <a:bodyPr anchorCtr="0" anchor="ctr" bIns="45700" lIns="91425" spcFirstLastPara="1" rIns="91425" wrap="square" tIns="45700">
            <a:normAutofit/>
          </a:bodyPr>
          <a:lstStyle/>
          <a:p>
            <a:pPr indent="0" lvl="0" marL="457200" rtl="0" algn="l">
              <a:spcBef>
                <a:spcPts val="1000"/>
              </a:spcBef>
              <a:spcAft>
                <a:spcPts val="0"/>
              </a:spcAft>
              <a:buNone/>
            </a:pPr>
            <a:r>
              <a:rPr lang="en-US"/>
              <a:t>How does a person’s race affect their wage earnings?</a:t>
            </a:r>
            <a:endParaRPr/>
          </a:p>
          <a:p>
            <a:pPr indent="0" lvl="0" marL="457200" rtl="0" algn="ctr">
              <a:spcBef>
                <a:spcPts val="1600"/>
              </a:spcBef>
              <a:spcAft>
                <a:spcPts val="0"/>
              </a:spcAft>
              <a:buNone/>
            </a:pPr>
            <a:r>
              <a:t/>
            </a:r>
            <a:endParaRPr/>
          </a:p>
          <a:p>
            <a:pPr indent="0" lvl="0" marL="457200" rtl="0" algn="ctr">
              <a:spcBef>
                <a:spcPts val="1600"/>
              </a:spcBef>
              <a:spcAft>
                <a:spcPts val="0"/>
              </a:spcAft>
              <a:buNone/>
            </a:pPr>
            <a:r>
              <a:t/>
            </a:r>
            <a:endParaRPr/>
          </a:p>
          <a:p>
            <a:pPr indent="0" lvl="0" marL="457200" rtl="0" algn="l">
              <a:spcBef>
                <a:spcPts val="1600"/>
              </a:spcBef>
              <a:spcAft>
                <a:spcPts val="1600"/>
              </a:spcAft>
              <a:buNone/>
            </a:pPr>
            <a:r>
              <a:rPr lang="en-US"/>
              <a:t>How does the confluence of race and a person’s ability to speak english affect earnings?</a:t>
            </a:r>
            <a:endParaRPr/>
          </a:p>
        </p:txBody>
      </p:sp>
      <p:sp>
        <p:nvSpPr>
          <p:cNvPr id="87" name="Google Shape;87;g2c1eb690462_1_86"/>
          <p:cNvSpPr txBox="1"/>
          <p:nvPr>
            <p:ph type="title"/>
          </p:nvPr>
        </p:nvSpPr>
        <p:spPr>
          <a:xfrm>
            <a:off x="838200" y="115300"/>
            <a:ext cx="10515600" cy="582000"/>
          </a:xfrm>
          <a:prstGeom prst="rect">
            <a:avLst/>
          </a:prstGeom>
        </p:spPr>
        <p:txBody>
          <a:bodyPr anchorCtr="0" anchor="t" bIns="45700" lIns="91425" spcFirstLastPara="1" rIns="91425" wrap="square" tIns="45700">
            <a:normAutofit fontScale="90000"/>
          </a:bodyPr>
          <a:lstStyle/>
          <a:p>
            <a:pPr indent="0" lvl="0" marL="0" rtl="0" algn="ctr">
              <a:spcBef>
                <a:spcPts val="0"/>
              </a:spcBef>
              <a:spcAft>
                <a:spcPts val="0"/>
              </a:spcAft>
              <a:buNone/>
            </a:pPr>
            <a:r>
              <a:rPr lang="en-US"/>
              <a:t>Research Question?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2c242ad9053_11_0"/>
          <p:cNvSpPr txBox="1"/>
          <p:nvPr>
            <p:ph type="title"/>
          </p:nvPr>
        </p:nvSpPr>
        <p:spPr>
          <a:xfrm>
            <a:off x="838200" y="365125"/>
            <a:ext cx="10515600" cy="13257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a:t>Initial Data Analysis</a:t>
            </a:r>
            <a:endParaRPr/>
          </a:p>
        </p:txBody>
      </p:sp>
      <p:sp>
        <p:nvSpPr>
          <p:cNvPr id="94" name="Google Shape;94;g2c242ad9053_11_0"/>
          <p:cNvSpPr txBox="1"/>
          <p:nvPr>
            <p:ph idx="1" type="body"/>
          </p:nvPr>
        </p:nvSpPr>
        <p:spPr>
          <a:xfrm>
            <a:off x="838200" y="1825625"/>
            <a:ext cx="10515600" cy="3149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sz="1200"/>
          </a:p>
          <a:p>
            <a:pPr indent="-304800" lvl="0" marL="457200" rtl="0" algn="l">
              <a:spcBef>
                <a:spcPts val="1600"/>
              </a:spcBef>
              <a:spcAft>
                <a:spcPts val="0"/>
              </a:spcAft>
              <a:buSzPts val="1200"/>
              <a:buChar char="●"/>
            </a:pPr>
            <a:r>
              <a:rPr lang="en-US" sz="1200"/>
              <a:t>We have extensively worked on Excel dataset and found variables which are most important to predict the earnings of a person. </a:t>
            </a:r>
            <a:br>
              <a:rPr lang="en-US" sz="1200"/>
            </a:br>
            <a:r>
              <a:rPr lang="en-US" sz="1200"/>
              <a:t>For example - Ability to Speak English, Age, Educational Attainment etc </a:t>
            </a:r>
            <a:br>
              <a:rPr lang="en-US" sz="1200"/>
            </a:br>
            <a:endParaRPr sz="1200"/>
          </a:p>
          <a:p>
            <a:pPr indent="-304800" lvl="0" marL="457200" rtl="0" algn="l">
              <a:spcBef>
                <a:spcPts val="0"/>
              </a:spcBef>
              <a:spcAft>
                <a:spcPts val="0"/>
              </a:spcAft>
              <a:buSzPts val="1200"/>
              <a:buChar char="●"/>
            </a:pPr>
            <a:r>
              <a:rPr lang="en-US" sz="1200"/>
              <a:t>Initially,  we analysed data in Excel to understand each variable given in the data dictionary. We have excluded all Flag Variables - Weightage, Household related information, Identifiers and we have also excluded variables that are duplicate and detailed in nature.</a:t>
            </a:r>
            <a:br>
              <a:rPr lang="en-US" sz="1200"/>
            </a:br>
            <a:endParaRPr sz="1200"/>
          </a:p>
          <a:p>
            <a:pPr indent="-304800" lvl="0" marL="457200" rtl="0" algn="l">
              <a:spcBef>
                <a:spcPts val="0"/>
              </a:spcBef>
              <a:spcAft>
                <a:spcPts val="0"/>
              </a:spcAft>
              <a:buSzPts val="1200"/>
              <a:buChar char="●"/>
            </a:pPr>
            <a:r>
              <a:rPr lang="en-US" sz="1200"/>
              <a:t>We have performed correlation analysis in R to check the correlation between all the variables to make informed decision about variable selection in the Model. For Example - Nativity and Citizenship Status were highly correlated so we dropped Nativity </a:t>
            </a:r>
            <a:br>
              <a:rPr lang="en-US" sz="1200"/>
            </a:br>
            <a:br>
              <a:rPr lang="en-US" sz="1200"/>
            </a:br>
            <a:endParaRPr sz="1200"/>
          </a:p>
          <a:p>
            <a:pPr indent="-304800" lvl="0" marL="457200" rtl="0" algn="l">
              <a:spcBef>
                <a:spcPts val="0"/>
              </a:spcBef>
              <a:spcAft>
                <a:spcPts val="0"/>
              </a:spcAft>
              <a:buSzPts val="1200"/>
              <a:buChar char="●"/>
            </a:pPr>
            <a:r>
              <a:rPr lang="en-US" sz="1200"/>
              <a:t>We have created dummy variables for categories wherever it was required. </a:t>
            </a:r>
            <a:br>
              <a:rPr lang="en-US" sz="1200"/>
            </a:br>
            <a:endParaRPr sz="1200"/>
          </a:p>
          <a:p>
            <a:pPr indent="-304800" lvl="0" marL="457200" rtl="0" algn="l">
              <a:spcBef>
                <a:spcPts val="0"/>
              </a:spcBef>
              <a:spcAft>
                <a:spcPts val="0"/>
              </a:spcAft>
              <a:buSzPts val="1200"/>
              <a:buChar char="●"/>
            </a:pPr>
            <a:r>
              <a:rPr lang="en-US" sz="1200"/>
              <a:t>We performed backtracking based on our initial models to further group the categorical variables.</a:t>
            </a:r>
            <a:br>
              <a:rPr lang="en-US" sz="1200"/>
            </a:br>
            <a:r>
              <a:rPr lang="en-US" sz="1200"/>
              <a:t>For Example - Pacific Islander, Native Hawaiian and American Indian Races categories were combined to form one categorical variable called “</a:t>
            </a:r>
            <a:r>
              <a:rPr i="1" lang="en-US" sz="1200"/>
              <a:t>Other Races”</a:t>
            </a:r>
            <a:endParaRPr i="1"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2c154ad4d96_0_24"/>
          <p:cNvSpPr txBox="1"/>
          <p:nvPr>
            <p:ph type="title"/>
          </p:nvPr>
        </p:nvSpPr>
        <p:spPr>
          <a:xfrm>
            <a:off x="838200" y="106325"/>
            <a:ext cx="10515600" cy="13257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sz="5000"/>
              <a:t>DESCRIPTIVE STATISTICS</a:t>
            </a:r>
            <a:endParaRPr sz="5000"/>
          </a:p>
        </p:txBody>
      </p:sp>
      <p:pic>
        <p:nvPicPr>
          <p:cNvPr id="101" name="Google Shape;101;g2c154ad4d96_0_24"/>
          <p:cNvPicPr preferRelativeResize="0"/>
          <p:nvPr/>
        </p:nvPicPr>
        <p:blipFill>
          <a:blip r:embed="rId3">
            <a:alphaModFix/>
          </a:blip>
          <a:stretch>
            <a:fillRect/>
          </a:stretch>
        </p:blipFill>
        <p:spPr>
          <a:xfrm>
            <a:off x="1089651" y="1079600"/>
            <a:ext cx="10012701" cy="5618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c242ad9053_5_0"/>
          <p:cNvSpPr txBox="1"/>
          <p:nvPr>
            <p:ph type="title"/>
          </p:nvPr>
        </p:nvSpPr>
        <p:spPr>
          <a:xfrm>
            <a:off x="838200" y="120925"/>
            <a:ext cx="10515600" cy="13257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sz="5000"/>
              <a:t>DESCRIPTIVE STATISTICS</a:t>
            </a:r>
            <a:endParaRPr sz="5000"/>
          </a:p>
        </p:txBody>
      </p:sp>
      <p:pic>
        <p:nvPicPr>
          <p:cNvPr id="108" name="Google Shape;108;g2c242ad9053_5_0"/>
          <p:cNvPicPr preferRelativeResize="0"/>
          <p:nvPr/>
        </p:nvPicPr>
        <p:blipFill>
          <a:blip r:embed="rId3">
            <a:alphaModFix/>
          </a:blip>
          <a:stretch>
            <a:fillRect/>
          </a:stretch>
        </p:blipFill>
        <p:spPr>
          <a:xfrm>
            <a:off x="930263" y="1358625"/>
            <a:ext cx="10331474" cy="5019076"/>
          </a:xfrm>
          <a:prstGeom prst="rect">
            <a:avLst/>
          </a:prstGeom>
          <a:noFill/>
          <a:ln>
            <a:noFill/>
          </a:ln>
        </p:spPr>
      </p:pic>
      <p:sp>
        <p:nvSpPr>
          <p:cNvPr id="109" name="Google Shape;109;g2c242ad9053_5_0"/>
          <p:cNvSpPr/>
          <p:nvPr/>
        </p:nvSpPr>
        <p:spPr>
          <a:xfrm>
            <a:off x="5795850" y="3026050"/>
            <a:ext cx="1535400" cy="1618500"/>
          </a:xfrm>
          <a:prstGeom prst="rect">
            <a:avLst/>
          </a:prstGeom>
          <a:noFill/>
          <a:ln cap="flat" cmpd="sng" w="28575">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2c1eb690462_7_8"/>
          <p:cNvSpPr txBox="1"/>
          <p:nvPr>
            <p:ph type="title"/>
          </p:nvPr>
        </p:nvSpPr>
        <p:spPr>
          <a:xfrm>
            <a:off x="461450" y="123700"/>
            <a:ext cx="10969800" cy="8931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000"/>
              <a:t>Model  - Race &amp; Wage Earnings relationship</a:t>
            </a:r>
            <a:endParaRPr sz="5000"/>
          </a:p>
        </p:txBody>
      </p:sp>
      <p:sp>
        <p:nvSpPr>
          <p:cNvPr id="116" name="Google Shape;116;g2c1eb690462_7_8"/>
          <p:cNvSpPr txBox="1"/>
          <p:nvPr>
            <p:ph idx="1" type="body"/>
          </p:nvPr>
        </p:nvSpPr>
        <p:spPr>
          <a:xfrm>
            <a:off x="4521175" y="1112775"/>
            <a:ext cx="6397200" cy="4930500"/>
          </a:xfrm>
          <a:prstGeom prst="rect">
            <a:avLst/>
          </a:prstGeom>
        </p:spPr>
        <p:txBody>
          <a:bodyPr anchorCtr="0" anchor="t" bIns="45700" lIns="91425" spcFirstLastPara="1" rIns="91425" wrap="square" tIns="45700">
            <a:normAutofit fontScale="25000"/>
          </a:bodyPr>
          <a:lstStyle/>
          <a:p>
            <a:pPr indent="0" lvl="0" marL="0" rtl="0" algn="ctr">
              <a:lnSpc>
                <a:spcPct val="115000"/>
              </a:lnSpc>
              <a:spcBef>
                <a:spcPts val="1000"/>
              </a:spcBef>
              <a:spcAft>
                <a:spcPts val="0"/>
              </a:spcAft>
              <a:buNone/>
            </a:pPr>
            <a:r>
              <a:rPr i="1" lang="en-US" sz="7200">
                <a:latin typeface="Comfortaa Light"/>
                <a:ea typeface="Comfortaa Light"/>
                <a:cs typeface="Comfortaa Light"/>
                <a:sym typeface="Comfortaa Light"/>
              </a:rPr>
              <a:t>Wage Earnings</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latin typeface="Comfortaa Light"/>
                <a:ea typeface="Comfortaa Light"/>
                <a:cs typeface="Comfortaa Light"/>
                <a:sym typeface="Comfortaa Light"/>
              </a:rPr>
              <a:t>= </a:t>
            </a:r>
            <a:endParaRPr i="1" sz="72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0 </a:t>
            </a:r>
            <a:r>
              <a:rPr i="1" lang="en-US" sz="7200">
                <a:latin typeface="Comfortaa Light"/>
                <a:ea typeface="Comfortaa Light"/>
                <a:cs typeface="Comfortaa Light"/>
                <a:sym typeface="Comfortaa Light"/>
              </a:rPr>
              <a:t>+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  </a:t>
            </a:r>
            <a:r>
              <a:rPr i="1" lang="en-US" sz="7200">
                <a:latin typeface="Comfortaa Light"/>
                <a:ea typeface="Comfortaa Light"/>
                <a:cs typeface="Comfortaa Light"/>
                <a:sym typeface="Comfortaa Light"/>
              </a:rPr>
              <a:t>Asian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2  </a:t>
            </a:r>
            <a:r>
              <a:rPr i="1" lang="en-US" sz="7200">
                <a:latin typeface="Comfortaa Light"/>
                <a:ea typeface="Comfortaa Light"/>
                <a:cs typeface="Comfortaa Light"/>
                <a:sym typeface="Comfortaa Light"/>
              </a:rPr>
              <a:t>Black +</a:t>
            </a:r>
            <a:r>
              <a:rPr i="1" lang="en-US" sz="7200">
                <a:solidFill>
                  <a:srgbClr val="202124"/>
                </a:solidFill>
                <a:highlight>
                  <a:schemeClr val="lt1"/>
                </a:highlight>
                <a:latin typeface="Comfortaa Light"/>
                <a:ea typeface="Comfortaa Light"/>
                <a:cs typeface="Comfortaa Light"/>
                <a:sym typeface="Comfortaa Light"/>
              </a:rPr>
              <a:t> β</a:t>
            </a:r>
            <a:r>
              <a:rPr baseline="-25000" i="1" lang="en-US" sz="7200">
                <a:latin typeface="Comfortaa Light"/>
                <a:ea typeface="Comfortaa Light"/>
                <a:cs typeface="Comfortaa Light"/>
                <a:sym typeface="Comfortaa Light"/>
              </a:rPr>
              <a:t>3 </a:t>
            </a:r>
            <a:r>
              <a:rPr i="1" lang="en-US" sz="7200">
                <a:latin typeface="Comfortaa Light"/>
                <a:ea typeface="Comfortaa Light"/>
                <a:cs typeface="Comfortaa Light"/>
                <a:sym typeface="Comfortaa Light"/>
              </a:rPr>
              <a:t>Other Races +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4 </a:t>
            </a:r>
            <a:r>
              <a:rPr i="1" lang="en-US" sz="7200">
                <a:latin typeface="Comfortaa Light"/>
                <a:ea typeface="Comfortaa Light"/>
                <a:cs typeface="Comfortaa Light"/>
                <a:sym typeface="Comfortaa Light"/>
              </a:rPr>
              <a:t>English Speaking Very well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latin typeface="Comfortaa Light"/>
                <a:ea typeface="Comfortaa Light"/>
                <a:cs typeface="Comfortaa Light"/>
                <a:sym typeface="Comfortaa Light"/>
              </a:rPr>
              <a:t>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5  </a:t>
            </a:r>
            <a:r>
              <a:rPr i="1" lang="en-US" sz="7200">
                <a:latin typeface="Comfortaa Light"/>
                <a:ea typeface="Comfortaa Light"/>
                <a:cs typeface="Comfortaa Light"/>
                <a:sym typeface="Comfortaa Light"/>
              </a:rPr>
              <a:t>Age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6  </a:t>
            </a:r>
            <a:r>
              <a:rPr i="1" lang="en-US" sz="7200">
                <a:latin typeface="Comfortaa Light"/>
                <a:ea typeface="Comfortaa Light"/>
                <a:cs typeface="Comfortaa Light"/>
                <a:sym typeface="Comfortaa Light"/>
              </a:rPr>
              <a:t>Sex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7  </a:t>
            </a:r>
            <a:r>
              <a:rPr i="1" lang="en-US" sz="7200">
                <a:latin typeface="Comfortaa Light"/>
                <a:ea typeface="Comfortaa Light"/>
                <a:cs typeface="Comfortaa Light"/>
                <a:sym typeface="Comfortaa Light"/>
              </a:rPr>
              <a:t>Disability +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8 </a:t>
            </a:r>
            <a:r>
              <a:rPr i="1" lang="en-US" sz="7200">
                <a:latin typeface="Comfortaa Light"/>
                <a:ea typeface="Comfortaa Light"/>
                <a:cs typeface="Comfortaa Light"/>
                <a:sym typeface="Comfortaa Light"/>
              </a:rPr>
              <a:t>Less than Bachelor's Degree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9 </a:t>
            </a:r>
            <a:r>
              <a:rPr i="1" lang="en-US" sz="7200">
                <a:latin typeface="Comfortaa Light"/>
                <a:ea typeface="Comfortaa Light"/>
                <a:cs typeface="Comfortaa Light"/>
                <a:sym typeface="Comfortaa Light"/>
              </a:rPr>
              <a:t>Bachelors Degree +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10 </a:t>
            </a:r>
            <a:r>
              <a:rPr i="1" lang="en-US" sz="7200">
                <a:latin typeface="Comfortaa Light"/>
                <a:ea typeface="Comfortaa Light"/>
                <a:cs typeface="Comfortaa Light"/>
                <a:sym typeface="Comfortaa Light"/>
              </a:rPr>
              <a:t>Master’s Degree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11</a:t>
            </a:r>
            <a:r>
              <a:rPr i="1" lang="en-US" sz="7200">
                <a:latin typeface="Comfortaa Light"/>
                <a:ea typeface="Comfortaa Light"/>
                <a:cs typeface="Comfortaa Light"/>
                <a:sym typeface="Comfortaa Light"/>
              </a:rPr>
              <a:t>Terminal Degree +</a:t>
            </a:r>
            <a:r>
              <a:rPr i="1" lang="en-US" sz="7200">
                <a:solidFill>
                  <a:srgbClr val="202124"/>
                </a:solidFill>
                <a:highlight>
                  <a:schemeClr val="lt1"/>
                </a:highlight>
                <a:latin typeface="Comfortaa Light"/>
                <a:ea typeface="Comfortaa Light"/>
                <a:cs typeface="Comfortaa Light"/>
                <a:sym typeface="Comfortaa Light"/>
              </a:rPr>
              <a:t> </a:t>
            </a:r>
            <a:endParaRPr i="1" sz="72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12 </a:t>
            </a:r>
            <a:r>
              <a:rPr i="1" lang="en-US" sz="7200">
                <a:latin typeface="Comfortaa Light"/>
                <a:ea typeface="Comfortaa Light"/>
                <a:cs typeface="Comfortaa Light"/>
                <a:sym typeface="Comfortaa Light"/>
              </a:rPr>
              <a:t>Citizen by birth + </a:t>
            </a: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13 </a:t>
            </a:r>
            <a:r>
              <a:rPr i="1" lang="en-US" sz="7200">
                <a:latin typeface="Comfortaa Light"/>
                <a:ea typeface="Comfortaa Light"/>
                <a:cs typeface="Comfortaa Light"/>
                <a:sym typeface="Comfortaa Light"/>
              </a:rPr>
              <a:t>Private Employee +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1600"/>
              </a:spcAft>
              <a:buNone/>
            </a:pPr>
            <a:r>
              <a:rPr i="1" lang="en-US" sz="7200">
                <a:solidFill>
                  <a:srgbClr val="202124"/>
                </a:solidFill>
                <a:highlight>
                  <a:schemeClr val="lt1"/>
                </a:highlight>
                <a:latin typeface="Comfortaa Light"/>
                <a:ea typeface="Comfortaa Light"/>
                <a:cs typeface="Comfortaa Light"/>
                <a:sym typeface="Comfortaa Light"/>
              </a:rPr>
              <a:t>β</a:t>
            </a:r>
            <a:r>
              <a:rPr baseline="-25000" i="1" lang="en-US" sz="7200">
                <a:latin typeface="Comfortaa Light"/>
                <a:ea typeface="Comfortaa Light"/>
                <a:cs typeface="Comfortaa Light"/>
                <a:sym typeface="Comfortaa Light"/>
              </a:rPr>
              <a:t>14 </a:t>
            </a:r>
            <a:r>
              <a:rPr i="1" lang="en-US" sz="7200">
                <a:latin typeface="Comfortaa Light"/>
                <a:ea typeface="Comfortaa Light"/>
                <a:cs typeface="Comfortaa Light"/>
                <a:sym typeface="Comfortaa Light"/>
              </a:rPr>
              <a:t>Married</a:t>
            </a:r>
            <a:endParaRPr i="1" sz="1200">
              <a:latin typeface="Comfortaa Light"/>
              <a:ea typeface="Comfortaa Light"/>
              <a:cs typeface="Comfortaa Light"/>
              <a:sym typeface="Comfortaa Light"/>
            </a:endParaRPr>
          </a:p>
        </p:txBody>
      </p:sp>
      <p:pic>
        <p:nvPicPr>
          <p:cNvPr id="117" name="Google Shape;117;g2c1eb690462_7_8"/>
          <p:cNvPicPr preferRelativeResize="0"/>
          <p:nvPr/>
        </p:nvPicPr>
        <p:blipFill>
          <a:blip r:embed="rId3">
            <a:alphaModFix/>
          </a:blip>
          <a:stretch>
            <a:fillRect/>
          </a:stretch>
        </p:blipFill>
        <p:spPr>
          <a:xfrm>
            <a:off x="954400" y="1112775"/>
            <a:ext cx="3747575" cy="4472924"/>
          </a:xfrm>
          <a:prstGeom prst="rect">
            <a:avLst/>
          </a:prstGeom>
          <a:noFill/>
          <a:ln>
            <a:noFill/>
          </a:ln>
        </p:spPr>
      </p:pic>
      <p:pic>
        <p:nvPicPr>
          <p:cNvPr id="118" name="Google Shape;118;g2c1eb690462_7_8"/>
          <p:cNvPicPr preferRelativeResize="0"/>
          <p:nvPr/>
        </p:nvPicPr>
        <p:blipFill>
          <a:blip r:embed="rId4">
            <a:alphaModFix/>
          </a:blip>
          <a:stretch>
            <a:fillRect/>
          </a:stretch>
        </p:blipFill>
        <p:spPr>
          <a:xfrm>
            <a:off x="2142600" y="5673975"/>
            <a:ext cx="2465375" cy="733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c1eb690462_10_17"/>
          <p:cNvSpPr txBox="1"/>
          <p:nvPr>
            <p:ph idx="1" type="body"/>
          </p:nvPr>
        </p:nvSpPr>
        <p:spPr>
          <a:xfrm>
            <a:off x="296550" y="979375"/>
            <a:ext cx="11083200" cy="5305500"/>
          </a:xfrm>
          <a:prstGeom prst="rect">
            <a:avLst/>
          </a:prstGeom>
        </p:spPr>
        <p:txBody>
          <a:bodyPr anchorCtr="0" anchor="t" bIns="45700" lIns="91425" spcFirstLastPara="1" rIns="91425" wrap="square" tIns="45700">
            <a:normAutofit fontScale="92500" lnSpcReduction="20000"/>
          </a:bodyPr>
          <a:lstStyle/>
          <a:p>
            <a:pPr indent="0" lvl="0" marL="0" rtl="0" algn="just">
              <a:lnSpc>
                <a:spcPct val="100000"/>
              </a:lnSpc>
              <a:spcBef>
                <a:spcPts val="1000"/>
              </a:spcBef>
              <a:spcAft>
                <a:spcPts val="0"/>
              </a:spcAft>
              <a:buNone/>
            </a:pPr>
            <a:r>
              <a:t/>
            </a:r>
            <a:endParaRPr sz="2643">
              <a:latin typeface="Times New Roman"/>
              <a:ea typeface="Times New Roman"/>
              <a:cs typeface="Times New Roman"/>
              <a:sym typeface="Times New Roman"/>
            </a:endParaRPr>
          </a:p>
          <a:p>
            <a:pPr indent="-322580" lvl="0" marL="457200" rtl="0" algn="just">
              <a:lnSpc>
                <a:spcPct val="115000"/>
              </a:lnSpc>
              <a:spcBef>
                <a:spcPts val="1600"/>
              </a:spcBef>
              <a:spcAft>
                <a:spcPts val="0"/>
              </a:spcAft>
              <a:buSzPct val="100000"/>
              <a:buFont typeface="Calibri"/>
              <a:buChar char="●"/>
            </a:pPr>
            <a:r>
              <a:rPr b="1" lang="en-US" sz="1600">
                <a:solidFill>
                  <a:srgbClr val="0D0D0D"/>
                </a:solidFill>
                <a:latin typeface="Calibri"/>
                <a:ea typeface="Calibri"/>
                <a:cs typeface="Calibri"/>
                <a:sym typeface="Calibri"/>
              </a:rPr>
              <a:t>S</a:t>
            </a:r>
            <a:r>
              <a:rPr b="1" lang="en-US" sz="1600">
                <a:solidFill>
                  <a:srgbClr val="0D0D0D"/>
                </a:solidFill>
                <a:latin typeface="Calibri"/>
                <a:ea typeface="Calibri"/>
                <a:cs typeface="Calibri"/>
                <a:sym typeface="Calibri"/>
              </a:rPr>
              <a:t>tatistically significant</a:t>
            </a:r>
            <a:r>
              <a:rPr lang="en-US" sz="1600">
                <a:solidFill>
                  <a:srgbClr val="0D0D0D"/>
                </a:solidFill>
                <a:latin typeface="Calibri"/>
                <a:ea typeface="Calibri"/>
                <a:cs typeface="Calibri"/>
                <a:sym typeface="Calibri"/>
              </a:rPr>
              <a:t>:</a:t>
            </a:r>
            <a:endParaRPr sz="1600">
              <a:solidFill>
                <a:srgbClr val="0D0D0D"/>
              </a:solidFill>
              <a:latin typeface="Calibri"/>
              <a:ea typeface="Calibri"/>
              <a:cs typeface="Calibri"/>
              <a:sym typeface="Calibri"/>
            </a:endParaRPr>
          </a:p>
          <a:p>
            <a:pPr indent="0" lvl="0" marL="4572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SzPct val="100000"/>
              <a:buFont typeface="Calibri"/>
              <a:buChar char="●"/>
            </a:pPr>
            <a:r>
              <a:rPr lang="en-US" sz="1600">
                <a:solidFill>
                  <a:srgbClr val="0D0D0D"/>
                </a:solidFill>
                <a:latin typeface="Calibri"/>
                <a:ea typeface="Calibri"/>
                <a:cs typeface="Calibri"/>
                <a:sym typeface="Calibri"/>
              </a:rPr>
              <a:t>Holding </a:t>
            </a:r>
            <a:r>
              <a:rPr lang="en-US" sz="1600">
                <a:solidFill>
                  <a:srgbClr val="0D0D0D"/>
                </a:solidFill>
                <a:latin typeface="Calibri"/>
                <a:ea typeface="Calibri"/>
                <a:cs typeface="Calibri"/>
                <a:sym typeface="Calibri"/>
              </a:rPr>
              <a:t>other</a:t>
            </a:r>
            <a:r>
              <a:rPr lang="en-US" sz="1600">
                <a:solidFill>
                  <a:srgbClr val="0D0D0D"/>
                </a:solidFill>
                <a:latin typeface="Calibri"/>
                <a:ea typeface="Calibri"/>
                <a:cs typeface="Calibri"/>
                <a:sym typeface="Calibri"/>
              </a:rPr>
              <a:t> variables constant, Asian individuals have, on average, wage </a:t>
            </a:r>
            <a:r>
              <a:rPr lang="en-US" sz="1600">
                <a:solidFill>
                  <a:srgbClr val="0D0D0D"/>
                </a:solidFill>
                <a:latin typeface="Calibri"/>
                <a:ea typeface="Calibri"/>
                <a:cs typeface="Calibri"/>
                <a:sym typeface="Calibri"/>
              </a:rPr>
              <a:t>earnings</a:t>
            </a:r>
            <a:r>
              <a:rPr lang="en-US" sz="1600">
                <a:solidFill>
                  <a:srgbClr val="0D0D0D"/>
                </a:solidFill>
                <a:latin typeface="Calibri"/>
                <a:ea typeface="Calibri"/>
                <a:cs typeface="Calibri"/>
                <a:sym typeface="Calibri"/>
              </a:rPr>
              <a:t> that are $11,008 higher than the White individuals.</a:t>
            </a:r>
            <a:endParaRPr sz="16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Clr>
                <a:srgbClr val="0D0D0D"/>
              </a:buClr>
              <a:buSzPct val="100000"/>
              <a:buFont typeface="Calibri"/>
              <a:buChar char="●"/>
            </a:pPr>
            <a:r>
              <a:rPr lang="en-US" sz="1600">
                <a:solidFill>
                  <a:srgbClr val="0D0D0D"/>
                </a:solidFill>
                <a:latin typeface="Calibri"/>
                <a:ea typeface="Calibri"/>
                <a:cs typeface="Calibri"/>
                <a:sym typeface="Calibri"/>
              </a:rPr>
              <a:t>Having a very good level of English speaking is associated with an predicted increase in earnings of approximately</a:t>
            </a:r>
            <a:r>
              <a:rPr lang="en-US" sz="1600">
                <a:solidFill>
                  <a:srgbClr val="0D0D0D"/>
                </a:solidFill>
                <a:latin typeface="Calibri"/>
                <a:ea typeface="Calibri"/>
                <a:cs typeface="Calibri"/>
                <a:sym typeface="Calibri"/>
              </a:rPr>
              <a:t> </a:t>
            </a:r>
            <a:r>
              <a:rPr lang="en-US" sz="1600">
                <a:solidFill>
                  <a:srgbClr val="0D0D0D"/>
                </a:solidFill>
                <a:latin typeface="Calibri"/>
                <a:ea typeface="Calibri"/>
                <a:cs typeface="Calibri"/>
                <a:sym typeface="Calibri"/>
              </a:rPr>
              <a:t>$20,486</a:t>
            </a:r>
            <a:r>
              <a:rPr lang="en-US" sz="1600">
                <a:solidFill>
                  <a:srgbClr val="0D0D0D"/>
                </a:solidFill>
                <a:latin typeface="Calibri"/>
                <a:ea typeface="Calibri"/>
                <a:cs typeface="Calibri"/>
                <a:sym typeface="Calibri"/>
              </a:rPr>
              <a:t>  </a:t>
            </a:r>
            <a:r>
              <a:rPr lang="en-US" sz="1600">
                <a:solidFill>
                  <a:srgbClr val="0D0D0D"/>
                </a:solidFill>
                <a:latin typeface="Calibri"/>
                <a:ea typeface="Calibri"/>
                <a:cs typeface="Calibri"/>
                <a:sym typeface="Calibri"/>
              </a:rPr>
              <a:t>regardless of race or other factors.</a:t>
            </a:r>
            <a:endParaRPr sz="16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Clr>
                <a:srgbClr val="0D0D0D"/>
              </a:buClr>
              <a:buSzPct val="100000"/>
              <a:buFont typeface="Calibri"/>
              <a:buChar char="●"/>
            </a:pPr>
            <a:r>
              <a:rPr lang="en-US" sz="1600">
                <a:solidFill>
                  <a:srgbClr val="0D0D0D"/>
                </a:solidFill>
                <a:latin typeface="Calibri"/>
                <a:ea typeface="Calibri"/>
                <a:cs typeface="Calibri"/>
                <a:sym typeface="Calibri"/>
              </a:rPr>
              <a:t>A one year increase in age, on average, is associated with an increase in earnings of approximately $99 suggesting that earnings tend to increase with age.</a:t>
            </a:r>
            <a:endParaRPr sz="16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Clr>
                <a:srgbClr val="0D0D0D"/>
              </a:buClr>
              <a:buSzPct val="100000"/>
              <a:buFont typeface="Calibri"/>
              <a:buChar char="●"/>
            </a:pPr>
            <a:r>
              <a:rPr lang="en-US" sz="1600">
                <a:solidFill>
                  <a:srgbClr val="0D0D0D"/>
                </a:solidFill>
                <a:latin typeface="Calibri"/>
                <a:ea typeface="Calibri"/>
                <a:cs typeface="Calibri"/>
                <a:sym typeface="Calibri"/>
              </a:rPr>
              <a:t>Individuals with a disability might see their earnings reduce by an estimated $13,874 highlighting a disparity in income due to disability status.</a:t>
            </a:r>
            <a:endParaRPr sz="16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Clr>
                <a:srgbClr val="0D0D0D"/>
              </a:buClr>
              <a:buSzPct val="100000"/>
              <a:buFont typeface="Calibri"/>
              <a:buChar char="●"/>
            </a:pPr>
            <a:r>
              <a:rPr lang="en-US" sz="1600">
                <a:solidFill>
                  <a:srgbClr val="0D0D0D"/>
                </a:solidFill>
                <a:latin typeface="Calibri"/>
                <a:ea typeface="Calibri"/>
                <a:cs typeface="Calibri"/>
                <a:sym typeface="Calibri"/>
              </a:rPr>
              <a:t>Earning potential drops by about $23,751  for those without a bachelor's degree when compared to their counterparts with higher educational achievements.</a:t>
            </a:r>
            <a:endParaRPr sz="16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600">
              <a:solidFill>
                <a:srgbClr val="0D0D0D"/>
              </a:solidFill>
              <a:latin typeface="Calibri"/>
              <a:ea typeface="Calibri"/>
              <a:cs typeface="Calibri"/>
              <a:sym typeface="Calibri"/>
            </a:endParaRPr>
          </a:p>
          <a:p>
            <a:pPr indent="-322580" lvl="0" marL="914400" rtl="0" algn="just">
              <a:lnSpc>
                <a:spcPct val="115000"/>
              </a:lnSpc>
              <a:spcBef>
                <a:spcPts val="0"/>
              </a:spcBef>
              <a:spcAft>
                <a:spcPts val="0"/>
              </a:spcAft>
              <a:buClr>
                <a:srgbClr val="0D0D0D"/>
              </a:buClr>
              <a:buSzPct val="100000"/>
              <a:buFont typeface="Calibri"/>
              <a:buChar char="●"/>
            </a:pPr>
            <a:r>
              <a:rPr lang="en-US" sz="1600">
                <a:latin typeface="Calibri"/>
                <a:ea typeface="Calibri"/>
                <a:cs typeface="Calibri"/>
                <a:sym typeface="Calibri"/>
              </a:rPr>
              <a:t> </a:t>
            </a:r>
            <a:r>
              <a:rPr lang="en-US" sz="1600">
                <a:solidFill>
                  <a:srgbClr val="0D0D0D"/>
                </a:solidFill>
                <a:latin typeface="Calibri"/>
                <a:ea typeface="Calibri"/>
                <a:cs typeface="Calibri"/>
                <a:sym typeface="Calibri"/>
              </a:rPr>
              <a:t>Obtaining a bachelor's degree can lead to an earnings increase of roughly $7,658 showcasing the value of completing undergraduate studi</a:t>
            </a:r>
            <a:r>
              <a:rPr lang="en-US" sz="1300">
                <a:solidFill>
                  <a:srgbClr val="0D0D0D"/>
                </a:solidFill>
                <a:latin typeface="Calibri"/>
                <a:ea typeface="Calibri"/>
                <a:cs typeface="Calibri"/>
                <a:sym typeface="Calibri"/>
              </a:rPr>
              <a:t>es.</a:t>
            </a:r>
            <a:endParaRPr sz="1300">
              <a:solidFill>
                <a:srgbClr val="0D0D0D"/>
              </a:solidFill>
              <a:latin typeface="Calibri"/>
              <a:ea typeface="Calibri"/>
              <a:cs typeface="Calibri"/>
              <a:sym typeface="Calibri"/>
            </a:endParaRPr>
          </a:p>
          <a:p>
            <a:pPr indent="0" lvl="0" marL="914400" rtl="0" algn="just">
              <a:lnSpc>
                <a:spcPct val="115000"/>
              </a:lnSpc>
              <a:spcBef>
                <a:spcPts val="0"/>
              </a:spcBef>
              <a:spcAft>
                <a:spcPts val="0"/>
              </a:spcAft>
              <a:buNone/>
            </a:pPr>
            <a:r>
              <a:t/>
            </a:r>
            <a:endParaRPr sz="1300">
              <a:solidFill>
                <a:srgbClr val="0D0D0D"/>
              </a:solidFill>
              <a:latin typeface="Calibri"/>
              <a:ea typeface="Calibri"/>
              <a:cs typeface="Calibri"/>
              <a:sym typeface="Calibri"/>
            </a:endParaRPr>
          </a:p>
          <a:p>
            <a:pPr indent="-322580" lvl="0" marL="914400" rtl="0" algn="just">
              <a:lnSpc>
                <a:spcPct val="100000"/>
              </a:lnSpc>
              <a:spcBef>
                <a:spcPts val="0"/>
              </a:spcBef>
              <a:spcAft>
                <a:spcPts val="0"/>
              </a:spcAft>
              <a:buClr>
                <a:srgbClr val="0D0D0D"/>
              </a:buClr>
              <a:buSzPct val="100000"/>
              <a:buFont typeface="Calibri"/>
              <a:buChar char="●"/>
            </a:pPr>
            <a:r>
              <a:rPr lang="en-US" sz="1600">
                <a:solidFill>
                  <a:srgbClr val="0D0D0D"/>
                </a:solidFill>
                <a:highlight>
                  <a:schemeClr val="lt1"/>
                </a:highlight>
                <a:latin typeface="Calibri"/>
                <a:ea typeface="Calibri"/>
                <a:cs typeface="Calibri"/>
                <a:sym typeface="Calibri"/>
              </a:rPr>
              <a:t>Advancing to a master's degree level brings about a significant earnings boost, with an increase of nearly $47,970 reflecting the financial benefits of postgraduate education.</a:t>
            </a:r>
            <a:endParaRPr sz="3000">
              <a:latin typeface="Calibri"/>
              <a:ea typeface="Calibri"/>
              <a:cs typeface="Calibri"/>
              <a:sym typeface="Calibri"/>
            </a:endParaRPr>
          </a:p>
        </p:txBody>
      </p:sp>
      <p:sp>
        <p:nvSpPr>
          <p:cNvPr id="125" name="Google Shape;125;g2c1eb690462_10_17"/>
          <p:cNvSpPr txBox="1"/>
          <p:nvPr>
            <p:ph type="title"/>
          </p:nvPr>
        </p:nvSpPr>
        <p:spPr>
          <a:xfrm>
            <a:off x="461450" y="115850"/>
            <a:ext cx="10962300" cy="9000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000"/>
              <a:t>Interpreting the effects of Race on Wage Earnings</a:t>
            </a:r>
            <a:endParaRPr sz="5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c242ad9053_7_0"/>
          <p:cNvSpPr txBox="1"/>
          <p:nvPr>
            <p:ph type="title"/>
          </p:nvPr>
        </p:nvSpPr>
        <p:spPr>
          <a:xfrm>
            <a:off x="838200" y="124500"/>
            <a:ext cx="10515600" cy="1325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US" sz="5000"/>
              <a:t>...</a:t>
            </a:r>
            <a:r>
              <a:rPr lang="en-US" sz="5000"/>
              <a:t>Interpreting the effects of Race on Wage Earnings</a:t>
            </a:r>
            <a:endParaRPr sz="5000"/>
          </a:p>
        </p:txBody>
      </p:sp>
      <p:sp>
        <p:nvSpPr>
          <p:cNvPr id="132" name="Google Shape;132;g2c242ad9053_7_0"/>
          <p:cNvSpPr txBox="1"/>
          <p:nvPr>
            <p:ph idx="1" type="body"/>
          </p:nvPr>
        </p:nvSpPr>
        <p:spPr>
          <a:xfrm>
            <a:off x="272550" y="1494700"/>
            <a:ext cx="11518200" cy="4642200"/>
          </a:xfrm>
          <a:prstGeom prst="rect">
            <a:avLst/>
          </a:prstGeom>
        </p:spPr>
        <p:txBody>
          <a:bodyPr anchorCtr="0" anchor="t" bIns="45700" lIns="91425" spcFirstLastPara="1" rIns="91425" wrap="square" tIns="45700">
            <a:normAutofit fontScale="70000" lnSpcReduction="20000"/>
          </a:bodyPr>
          <a:lstStyle/>
          <a:p>
            <a:pPr indent="0" lvl="0" marL="457200" rtl="0" algn="just">
              <a:lnSpc>
                <a:spcPct val="100000"/>
              </a:lnSpc>
              <a:spcBef>
                <a:spcPts val="0"/>
              </a:spcBef>
              <a:spcAft>
                <a:spcPts val="0"/>
              </a:spcAft>
              <a:buNone/>
            </a:pPr>
            <a:r>
              <a:t/>
            </a:r>
            <a:endParaRPr sz="18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Achieving a terminal degree positions individuals for an impressive earnings increase of about $75,700 underlining the premium placed on specialized higher education.</a:t>
            </a:r>
            <a:endParaRPr sz="2000">
              <a:solidFill>
                <a:srgbClr val="0D0D0D"/>
              </a:solidFill>
              <a:highlight>
                <a:schemeClr val="lt1"/>
              </a:highlight>
              <a:latin typeface="Calibri"/>
              <a:ea typeface="Calibri"/>
              <a:cs typeface="Calibri"/>
              <a:sym typeface="Calibri"/>
            </a:endParaRPr>
          </a:p>
          <a:p>
            <a:pPr indent="0" lvl="0" marL="1828800" rtl="0" algn="just">
              <a:lnSpc>
                <a:spcPct val="100000"/>
              </a:lnSpc>
              <a:spcBef>
                <a:spcPts val="800"/>
              </a:spcBef>
              <a:spcAft>
                <a:spcPts val="0"/>
              </a:spcAft>
              <a:buNone/>
            </a:pPr>
            <a:r>
              <a:t/>
            </a:r>
            <a:endParaRPr sz="20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Citizen By birth is associated with a slight decrease in earnings, around $4,332 less, suggesting  differences in income based on citizenship origins.</a:t>
            </a:r>
            <a:endParaRPr sz="2000">
              <a:solidFill>
                <a:srgbClr val="0D0D0D"/>
              </a:solidFill>
              <a:highlight>
                <a:schemeClr val="lt1"/>
              </a:highlight>
              <a:latin typeface="Calibri"/>
              <a:ea typeface="Calibri"/>
              <a:cs typeface="Calibri"/>
              <a:sym typeface="Calibri"/>
            </a:endParaRPr>
          </a:p>
          <a:p>
            <a:pPr indent="0" lvl="0" marL="1828800" rtl="0" algn="just">
              <a:lnSpc>
                <a:spcPct val="100000"/>
              </a:lnSpc>
              <a:spcBef>
                <a:spcPts val="800"/>
              </a:spcBef>
              <a:spcAft>
                <a:spcPts val="0"/>
              </a:spcAft>
              <a:buNone/>
            </a:pPr>
            <a:r>
              <a:t/>
            </a:r>
            <a:endParaRPr sz="20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Employment in the private sector is financially advantageous, offering an increase in earnings of approximately $20,741 indicative of the sector's compensation trends.</a:t>
            </a:r>
            <a:endParaRPr sz="2000">
              <a:solidFill>
                <a:srgbClr val="0D0D0D"/>
              </a:solidFill>
              <a:highlight>
                <a:schemeClr val="lt1"/>
              </a:highlight>
              <a:latin typeface="Calibri"/>
              <a:ea typeface="Calibri"/>
              <a:cs typeface="Calibri"/>
              <a:sym typeface="Calibri"/>
            </a:endParaRPr>
          </a:p>
          <a:p>
            <a:pPr indent="0" lvl="0" marL="1828800" rtl="0" algn="just">
              <a:lnSpc>
                <a:spcPct val="100000"/>
              </a:lnSpc>
              <a:spcBef>
                <a:spcPts val="800"/>
              </a:spcBef>
              <a:spcAft>
                <a:spcPts val="0"/>
              </a:spcAft>
              <a:buNone/>
            </a:pPr>
            <a:r>
              <a:t/>
            </a:r>
            <a:endParaRPr sz="20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Marriage is correlated with an earnings of about $18,333 pointing towards the economic advantages that can accompany marital status.</a:t>
            </a:r>
            <a:endParaRPr sz="2000">
              <a:solidFill>
                <a:srgbClr val="0D0D0D"/>
              </a:solidFill>
              <a:highlight>
                <a:schemeClr val="lt1"/>
              </a:highlight>
              <a:latin typeface="Calibri"/>
              <a:ea typeface="Calibri"/>
              <a:cs typeface="Calibri"/>
              <a:sym typeface="Calibri"/>
            </a:endParaRPr>
          </a:p>
          <a:p>
            <a:pPr indent="0" lvl="0" marL="1828800" rtl="0" algn="just">
              <a:lnSpc>
                <a:spcPct val="100000"/>
              </a:lnSpc>
              <a:spcBef>
                <a:spcPts val="800"/>
              </a:spcBef>
              <a:spcAft>
                <a:spcPts val="0"/>
              </a:spcAft>
              <a:buNone/>
            </a:pPr>
            <a:r>
              <a:t/>
            </a:r>
            <a:endParaRPr sz="20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Black and other races are not statistically significant .</a:t>
            </a:r>
            <a:endParaRPr sz="2000">
              <a:solidFill>
                <a:srgbClr val="0D0D0D"/>
              </a:solidFill>
              <a:highlight>
                <a:schemeClr val="lt1"/>
              </a:highlight>
              <a:latin typeface="Calibri"/>
              <a:ea typeface="Calibri"/>
              <a:cs typeface="Calibri"/>
              <a:sym typeface="Calibri"/>
            </a:endParaRPr>
          </a:p>
          <a:p>
            <a:pPr indent="0" lvl="0" marL="1828800" rtl="0" algn="just">
              <a:lnSpc>
                <a:spcPct val="100000"/>
              </a:lnSpc>
              <a:spcBef>
                <a:spcPts val="800"/>
              </a:spcBef>
              <a:spcAft>
                <a:spcPts val="0"/>
              </a:spcAft>
              <a:buNone/>
            </a:pPr>
            <a:r>
              <a:t/>
            </a:r>
            <a:endParaRPr sz="2000">
              <a:solidFill>
                <a:srgbClr val="0D0D0D"/>
              </a:solidFill>
              <a:highlight>
                <a:schemeClr val="lt1"/>
              </a:highlight>
              <a:latin typeface="Calibri"/>
              <a:ea typeface="Calibri"/>
              <a:cs typeface="Calibri"/>
              <a:sym typeface="Calibri"/>
            </a:endParaRPr>
          </a:p>
          <a:p>
            <a:pPr indent="-317500" lvl="0" marL="457200" rtl="0" algn="just">
              <a:lnSpc>
                <a:spcPct val="100000"/>
              </a:lnSpc>
              <a:spcBef>
                <a:spcPts val="800"/>
              </a:spcBef>
              <a:spcAft>
                <a:spcPts val="0"/>
              </a:spcAft>
              <a:buClr>
                <a:srgbClr val="0D0D0D"/>
              </a:buClr>
              <a:buSzPct val="100000"/>
              <a:buFont typeface="Calibri"/>
              <a:buChar char="●"/>
            </a:pPr>
            <a:r>
              <a:rPr lang="en-US" sz="2000">
                <a:solidFill>
                  <a:srgbClr val="0D0D0D"/>
                </a:solidFill>
                <a:highlight>
                  <a:schemeClr val="lt1"/>
                </a:highlight>
                <a:latin typeface="Calibri"/>
                <a:ea typeface="Calibri"/>
                <a:cs typeface="Calibri"/>
                <a:sym typeface="Calibri"/>
              </a:rPr>
              <a:t>The r-square value of 0.2055 suggests that approximately 20.55% of the variance in the dependent variable can be explained by the independent variables in your model. The adjusted r-square value of 0.2054 is very close to the r square. value, which is adjusted for the number of predictors in the model.</a:t>
            </a:r>
            <a:endParaRPr sz="2000">
              <a:solidFill>
                <a:srgbClr val="0D0D0D"/>
              </a:solidFill>
              <a:highlight>
                <a:schemeClr val="lt1"/>
              </a:highlight>
              <a:latin typeface="Calibri"/>
              <a:ea typeface="Calibri"/>
              <a:cs typeface="Calibri"/>
              <a:sym typeface="Calibri"/>
            </a:endParaRPr>
          </a:p>
          <a:p>
            <a:pPr indent="0" lvl="0" marL="914400" rtl="0" algn="just">
              <a:spcBef>
                <a:spcPts val="1600"/>
              </a:spcBef>
              <a:spcAft>
                <a:spcPts val="0"/>
              </a:spcAft>
              <a:buNone/>
            </a:pPr>
            <a:r>
              <a:t/>
            </a:r>
            <a:endParaRPr>
              <a:latin typeface="Calibri"/>
              <a:ea typeface="Calibri"/>
              <a:cs typeface="Calibri"/>
              <a:sym typeface="Calibri"/>
            </a:endParaRPr>
          </a:p>
          <a:p>
            <a:pPr indent="0" lvl="0" marL="0" rtl="0" algn="l">
              <a:spcBef>
                <a:spcPts val="1600"/>
              </a:spcBef>
              <a:spcAft>
                <a:spcPts val="1600"/>
              </a:spcAft>
              <a:buNone/>
            </a:pPr>
            <a:r>
              <a:t/>
            </a:r>
            <a:endParaRPr sz="1600">
              <a:solidFill>
                <a:srgbClr val="0D0D0D"/>
              </a:solidFill>
              <a:highlight>
                <a:schemeClr val="lt1"/>
              </a:highlight>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c1eb690462_1_99"/>
          <p:cNvSpPr txBox="1"/>
          <p:nvPr>
            <p:ph type="title"/>
          </p:nvPr>
        </p:nvSpPr>
        <p:spPr>
          <a:xfrm>
            <a:off x="838200" y="123125"/>
            <a:ext cx="10515600" cy="9000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sz="5000"/>
              <a:t>Model with interaction Terms</a:t>
            </a:r>
            <a:endParaRPr sz="5000"/>
          </a:p>
        </p:txBody>
      </p:sp>
      <p:sp>
        <p:nvSpPr>
          <p:cNvPr id="139" name="Google Shape;139;g2c1eb690462_1_99"/>
          <p:cNvSpPr txBox="1"/>
          <p:nvPr>
            <p:ph idx="1" type="body"/>
          </p:nvPr>
        </p:nvSpPr>
        <p:spPr>
          <a:xfrm>
            <a:off x="4701975" y="979400"/>
            <a:ext cx="6713400" cy="5383500"/>
          </a:xfrm>
          <a:prstGeom prst="rect">
            <a:avLst/>
          </a:prstGeom>
        </p:spPr>
        <p:txBody>
          <a:bodyPr anchorCtr="0" anchor="t" bIns="45700" lIns="91425" spcFirstLastPara="1" rIns="91425" wrap="square" tIns="45700">
            <a:normAutofit fontScale="25000" lnSpcReduction="20000"/>
          </a:bodyPr>
          <a:lstStyle/>
          <a:p>
            <a:pPr indent="0" lvl="0" marL="0" rtl="0" algn="ctr">
              <a:lnSpc>
                <a:spcPct val="115000"/>
              </a:lnSpc>
              <a:spcBef>
                <a:spcPts val="1000"/>
              </a:spcBef>
              <a:spcAft>
                <a:spcPts val="0"/>
              </a:spcAft>
              <a:buNone/>
            </a:pPr>
            <a:r>
              <a:t/>
            </a:r>
            <a:endParaRPr i="1" sz="72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latin typeface="Comfortaa Light"/>
                <a:ea typeface="Comfortaa Light"/>
                <a:cs typeface="Comfortaa Light"/>
                <a:sym typeface="Comfortaa Light"/>
              </a:rPr>
              <a:t>Wage earnings</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lang="en-US" sz="6000">
                <a:latin typeface="Comfortaa Light"/>
                <a:ea typeface="Comfortaa Light"/>
                <a:cs typeface="Comfortaa Light"/>
                <a:sym typeface="Comfortaa Light"/>
              </a:rPr>
              <a:t>= </a:t>
            </a:r>
            <a:endParaRPr sz="60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0 </a:t>
            </a:r>
            <a:r>
              <a:rPr i="1" lang="en-US" sz="6000">
                <a:latin typeface="Comfortaa Light"/>
                <a:ea typeface="Comfortaa Light"/>
                <a:cs typeface="Comfortaa Light"/>
                <a:sym typeface="Comfortaa Light"/>
              </a:rPr>
              <a:t>+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  </a:t>
            </a:r>
            <a:r>
              <a:rPr i="1" lang="en-US" sz="6000">
                <a:latin typeface="Comfortaa Light"/>
                <a:ea typeface="Comfortaa Light"/>
                <a:cs typeface="Comfortaa Light"/>
                <a:sym typeface="Comfortaa Light"/>
              </a:rPr>
              <a:t>Asian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2  </a:t>
            </a:r>
            <a:r>
              <a:rPr i="1" lang="en-US" sz="6000">
                <a:latin typeface="Comfortaa Light"/>
                <a:ea typeface="Comfortaa Light"/>
                <a:cs typeface="Comfortaa Light"/>
                <a:sym typeface="Comfortaa Light"/>
              </a:rPr>
              <a:t>Black +</a:t>
            </a:r>
            <a:r>
              <a:rPr i="1" lang="en-US" sz="6000">
                <a:solidFill>
                  <a:srgbClr val="202124"/>
                </a:solidFill>
                <a:highlight>
                  <a:schemeClr val="lt1"/>
                </a:highlight>
                <a:latin typeface="Comfortaa Light"/>
                <a:ea typeface="Comfortaa Light"/>
                <a:cs typeface="Comfortaa Light"/>
                <a:sym typeface="Comfortaa Light"/>
              </a:rPr>
              <a:t> β</a:t>
            </a:r>
            <a:r>
              <a:rPr baseline="-25000" i="1" lang="en-US" sz="6000">
                <a:latin typeface="Comfortaa Light"/>
                <a:ea typeface="Comfortaa Light"/>
                <a:cs typeface="Comfortaa Light"/>
                <a:sym typeface="Comfortaa Light"/>
              </a:rPr>
              <a:t>3 </a:t>
            </a:r>
            <a:r>
              <a:rPr i="1" lang="en-US" sz="6000">
                <a:latin typeface="Comfortaa Light"/>
                <a:ea typeface="Comfortaa Light"/>
                <a:cs typeface="Comfortaa Light"/>
                <a:sym typeface="Comfortaa Light"/>
              </a:rPr>
              <a:t>Other Races +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4 </a:t>
            </a:r>
            <a:r>
              <a:rPr i="1" lang="en-US" sz="6000">
                <a:latin typeface="Comfortaa Light"/>
                <a:ea typeface="Comfortaa Light"/>
                <a:cs typeface="Comfortaa Light"/>
                <a:sym typeface="Comfortaa Light"/>
              </a:rPr>
              <a:t>English Speaking Very well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latin typeface="Comfortaa Light"/>
                <a:ea typeface="Comfortaa Light"/>
                <a:cs typeface="Comfortaa Light"/>
                <a:sym typeface="Comfortaa Light"/>
              </a:rPr>
              <a:t>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5  </a:t>
            </a:r>
            <a:r>
              <a:rPr i="1" lang="en-US" sz="6000">
                <a:latin typeface="Comfortaa Light"/>
                <a:ea typeface="Comfortaa Light"/>
                <a:cs typeface="Comfortaa Light"/>
                <a:sym typeface="Comfortaa Light"/>
              </a:rPr>
              <a:t>Age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6  </a:t>
            </a:r>
            <a:r>
              <a:rPr i="1" lang="en-US" sz="6000">
                <a:latin typeface="Comfortaa Light"/>
                <a:ea typeface="Comfortaa Light"/>
                <a:cs typeface="Comfortaa Light"/>
                <a:sym typeface="Comfortaa Light"/>
              </a:rPr>
              <a:t>Sex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7  </a:t>
            </a:r>
            <a:r>
              <a:rPr i="1" lang="en-US" sz="6000">
                <a:latin typeface="Comfortaa Light"/>
                <a:ea typeface="Comfortaa Light"/>
                <a:cs typeface="Comfortaa Light"/>
                <a:sym typeface="Comfortaa Light"/>
              </a:rPr>
              <a:t>Disability +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8 </a:t>
            </a:r>
            <a:r>
              <a:rPr i="1" lang="en-US" sz="6000">
                <a:latin typeface="Comfortaa Light"/>
                <a:ea typeface="Comfortaa Light"/>
                <a:cs typeface="Comfortaa Light"/>
                <a:sym typeface="Comfortaa Light"/>
              </a:rPr>
              <a:t>Less than Bachelor's Degree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9 </a:t>
            </a:r>
            <a:r>
              <a:rPr i="1" lang="en-US" sz="6000">
                <a:latin typeface="Comfortaa Light"/>
                <a:ea typeface="Comfortaa Light"/>
                <a:cs typeface="Comfortaa Light"/>
                <a:sym typeface="Comfortaa Light"/>
              </a:rPr>
              <a:t>Bachelors Degree +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10 </a:t>
            </a:r>
            <a:r>
              <a:rPr i="1" lang="en-US" sz="6000">
                <a:latin typeface="Comfortaa Light"/>
                <a:ea typeface="Comfortaa Light"/>
                <a:cs typeface="Comfortaa Light"/>
                <a:sym typeface="Comfortaa Light"/>
              </a:rPr>
              <a:t>Master’s Degree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11</a:t>
            </a:r>
            <a:r>
              <a:rPr i="1" lang="en-US" sz="6000">
                <a:latin typeface="Comfortaa Light"/>
                <a:ea typeface="Comfortaa Light"/>
                <a:cs typeface="Comfortaa Light"/>
                <a:sym typeface="Comfortaa Light"/>
              </a:rPr>
              <a:t>Terminal Degree +</a:t>
            </a:r>
            <a:r>
              <a:rPr i="1" lang="en-US" sz="6000">
                <a:solidFill>
                  <a:srgbClr val="202124"/>
                </a:solidFill>
                <a:highlight>
                  <a:schemeClr val="lt1"/>
                </a:highlight>
                <a:latin typeface="Comfortaa Light"/>
                <a:ea typeface="Comfortaa Light"/>
                <a:cs typeface="Comfortaa Light"/>
                <a:sym typeface="Comfortaa Light"/>
              </a:rPr>
              <a:t> </a:t>
            </a:r>
            <a:endParaRPr i="1" sz="60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12 </a:t>
            </a:r>
            <a:r>
              <a:rPr i="1" lang="en-US" sz="6000">
                <a:latin typeface="Comfortaa Light"/>
                <a:ea typeface="Comfortaa Light"/>
                <a:cs typeface="Comfortaa Light"/>
                <a:sym typeface="Comfortaa Light"/>
              </a:rPr>
              <a:t>Citizen by birth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13 </a:t>
            </a:r>
            <a:r>
              <a:rPr i="1" lang="en-US" sz="6000">
                <a:latin typeface="Comfortaa Light"/>
                <a:ea typeface="Comfortaa Light"/>
                <a:cs typeface="Comfortaa Light"/>
                <a:sym typeface="Comfortaa Light"/>
              </a:rPr>
              <a:t>Private Employee + </a:t>
            </a: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14 </a:t>
            </a:r>
            <a:r>
              <a:rPr i="1" lang="en-US" sz="6000">
                <a:latin typeface="Comfortaa Light"/>
                <a:ea typeface="Comfortaa Light"/>
                <a:cs typeface="Comfortaa Light"/>
                <a:sym typeface="Comfortaa Light"/>
              </a:rPr>
              <a:t>Married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latin typeface="Comfortaa Light"/>
                <a:ea typeface="Comfortaa Light"/>
                <a:cs typeface="Comfortaa Light"/>
                <a:sym typeface="Comfortaa Light"/>
              </a:rPr>
              <a:t>+</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15</a:t>
            </a:r>
            <a:r>
              <a:rPr i="1" lang="en-US" sz="6000">
                <a:solidFill>
                  <a:srgbClr val="202124"/>
                </a:solidFill>
                <a:highlight>
                  <a:schemeClr val="lt1"/>
                </a:highlight>
                <a:latin typeface="Comfortaa Light"/>
                <a:ea typeface="Comfortaa Light"/>
                <a:cs typeface="Comfortaa Light"/>
                <a:sym typeface="Comfortaa Light"/>
              </a:rPr>
              <a:t> Asian * English Speaking Very Well +  </a:t>
            </a:r>
            <a:endParaRPr i="1" sz="60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16  </a:t>
            </a:r>
            <a:r>
              <a:rPr i="1" lang="en-US" sz="6000">
                <a:solidFill>
                  <a:srgbClr val="202124"/>
                </a:solidFill>
                <a:highlight>
                  <a:schemeClr val="lt1"/>
                </a:highlight>
                <a:latin typeface="Comfortaa Light"/>
                <a:ea typeface="Comfortaa Light"/>
                <a:cs typeface="Comfortaa Light"/>
                <a:sym typeface="Comfortaa Light"/>
              </a:rPr>
              <a:t>Black Asian * English Speaking Very Well +  </a:t>
            </a:r>
            <a:endParaRPr i="1" sz="6000">
              <a:solidFill>
                <a:srgbClr val="202124"/>
              </a:solidFill>
              <a:highlight>
                <a:schemeClr val="lt1"/>
              </a:highlight>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i="1" lang="en-US" sz="6000">
                <a:solidFill>
                  <a:srgbClr val="202124"/>
                </a:solidFill>
                <a:highlight>
                  <a:schemeClr val="lt1"/>
                </a:highlight>
                <a:latin typeface="Comfortaa Light"/>
                <a:ea typeface="Comfortaa Light"/>
                <a:cs typeface="Comfortaa Light"/>
                <a:sym typeface="Comfortaa Light"/>
              </a:rPr>
              <a:t>β</a:t>
            </a:r>
            <a:r>
              <a:rPr baseline="-25000" i="1" lang="en-US" sz="6000">
                <a:latin typeface="Comfortaa Light"/>
                <a:ea typeface="Comfortaa Light"/>
                <a:cs typeface="Comfortaa Light"/>
                <a:sym typeface="Comfortaa Light"/>
              </a:rPr>
              <a:t>17</a:t>
            </a:r>
            <a:r>
              <a:rPr i="1" lang="en-US" sz="6000">
                <a:solidFill>
                  <a:srgbClr val="202124"/>
                </a:solidFill>
                <a:highlight>
                  <a:schemeClr val="lt1"/>
                </a:highlight>
                <a:latin typeface="Comfortaa Light"/>
                <a:ea typeface="Comfortaa Light"/>
                <a:cs typeface="Comfortaa Light"/>
                <a:sym typeface="Comfortaa Light"/>
              </a:rPr>
              <a:t> Other Races  * English Speaking Very Well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rPr baseline="-25000" i="1" lang="en-US" sz="6000">
                <a:latin typeface="Comfortaa Light"/>
                <a:ea typeface="Comfortaa Light"/>
                <a:cs typeface="Comfortaa Light"/>
                <a:sym typeface="Comfortaa Light"/>
              </a:rPr>
              <a:t> </a:t>
            </a:r>
            <a:endParaRPr i="1" sz="60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t/>
            </a:r>
            <a:endParaRPr i="1" sz="6000">
              <a:latin typeface="Comfortaa Light"/>
              <a:ea typeface="Comfortaa Light"/>
              <a:cs typeface="Comfortaa Light"/>
              <a:sym typeface="Comfortaa Light"/>
            </a:endParaRPr>
          </a:p>
          <a:p>
            <a:pPr indent="0" lvl="0" marL="0" rtl="0" algn="l">
              <a:lnSpc>
                <a:spcPct val="115000"/>
              </a:lnSpc>
              <a:spcBef>
                <a:spcPts val="1600"/>
              </a:spcBef>
              <a:spcAft>
                <a:spcPts val="0"/>
              </a:spcAft>
              <a:buNone/>
            </a:pPr>
            <a:r>
              <a:t/>
            </a:r>
            <a:endParaRPr i="1" sz="4800">
              <a:latin typeface="Comfortaa Light"/>
              <a:ea typeface="Comfortaa Light"/>
              <a:cs typeface="Comfortaa Light"/>
              <a:sym typeface="Comfortaa Light"/>
            </a:endParaRPr>
          </a:p>
          <a:p>
            <a:pPr indent="0" lvl="0" marL="0" rtl="0" algn="ctr">
              <a:lnSpc>
                <a:spcPct val="115000"/>
              </a:lnSpc>
              <a:spcBef>
                <a:spcPts val="1600"/>
              </a:spcBef>
              <a:spcAft>
                <a:spcPts val="0"/>
              </a:spcAft>
              <a:buNone/>
            </a:pPr>
            <a:r>
              <a:t/>
            </a:r>
            <a:endParaRPr baseline="-25000" sz="7200">
              <a:latin typeface="Calibri"/>
              <a:ea typeface="Calibri"/>
              <a:cs typeface="Calibri"/>
              <a:sym typeface="Calibri"/>
            </a:endParaRPr>
          </a:p>
          <a:p>
            <a:pPr indent="0" lvl="0" marL="0" rtl="0" algn="ctr">
              <a:lnSpc>
                <a:spcPct val="115000"/>
              </a:lnSpc>
              <a:spcBef>
                <a:spcPts val="1600"/>
              </a:spcBef>
              <a:spcAft>
                <a:spcPts val="0"/>
              </a:spcAft>
              <a:buClr>
                <a:schemeClr val="dk1"/>
              </a:buClr>
              <a:buSzPts val="275"/>
              <a:buFont typeface="Arial"/>
              <a:buNone/>
            </a:pPr>
            <a:r>
              <a:t/>
            </a:r>
            <a:endParaRPr baseline="-25000" sz="7200">
              <a:latin typeface="Calibri"/>
              <a:ea typeface="Calibri"/>
              <a:cs typeface="Calibri"/>
              <a:sym typeface="Calibri"/>
            </a:endParaRPr>
          </a:p>
          <a:p>
            <a:pPr indent="0" lvl="0" marL="0" rtl="0" algn="l">
              <a:spcBef>
                <a:spcPts val="1600"/>
              </a:spcBef>
              <a:spcAft>
                <a:spcPts val="1600"/>
              </a:spcAft>
              <a:buNone/>
            </a:pPr>
            <a:r>
              <a:t/>
            </a:r>
            <a:endParaRPr/>
          </a:p>
        </p:txBody>
      </p:sp>
      <p:pic>
        <p:nvPicPr>
          <p:cNvPr id="140" name="Google Shape;140;g2c1eb690462_1_99"/>
          <p:cNvPicPr preferRelativeResize="0"/>
          <p:nvPr/>
        </p:nvPicPr>
        <p:blipFill>
          <a:blip r:embed="rId3">
            <a:alphaModFix/>
          </a:blip>
          <a:stretch>
            <a:fillRect/>
          </a:stretch>
        </p:blipFill>
        <p:spPr>
          <a:xfrm>
            <a:off x="954400" y="979400"/>
            <a:ext cx="3747574" cy="4694549"/>
          </a:xfrm>
          <a:prstGeom prst="rect">
            <a:avLst/>
          </a:prstGeom>
          <a:noFill/>
          <a:ln>
            <a:noFill/>
          </a:ln>
        </p:spPr>
      </p:pic>
      <p:pic>
        <p:nvPicPr>
          <p:cNvPr id="141" name="Google Shape;141;g2c1eb690462_1_99"/>
          <p:cNvPicPr preferRelativeResize="0"/>
          <p:nvPr/>
        </p:nvPicPr>
        <p:blipFill>
          <a:blip r:embed="rId4">
            <a:alphaModFix/>
          </a:blip>
          <a:stretch>
            <a:fillRect/>
          </a:stretch>
        </p:blipFill>
        <p:spPr>
          <a:xfrm>
            <a:off x="2142600" y="5673975"/>
            <a:ext cx="2465375" cy="733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c1eb690462_7_2"/>
          <p:cNvSpPr txBox="1"/>
          <p:nvPr>
            <p:ph type="title"/>
          </p:nvPr>
        </p:nvSpPr>
        <p:spPr>
          <a:xfrm>
            <a:off x="916500" y="916825"/>
            <a:ext cx="10056600" cy="5941200"/>
          </a:xfrm>
          <a:prstGeom prst="rect">
            <a:avLst/>
          </a:prstGeom>
        </p:spPr>
        <p:txBody>
          <a:bodyPr anchorCtr="0" anchor="t" bIns="121900" lIns="121900" spcFirstLastPara="1" rIns="121900" wrap="square" tIns="121900">
            <a:noAutofit/>
          </a:bodyPr>
          <a:lstStyle/>
          <a:p>
            <a:pPr indent="-330200" lvl="0" marL="457200" rtl="0" algn="l">
              <a:lnSpc>
                <a:spcPct val="115000"/>
              </a:lnSpc>
              <a:spcBef>
                <a:spcPts val="0"/>
              </a:spcBef>
              <a:spcAft>
                <a:spcPts val="0"/>
              </a:spcAft>
              <a:buSzPts val="1600"/>
              <a:buFont typeface="Arial"/>
              <a:buAutoNum type="arabicPeriod"/>
            </a:pPr>
            <a:r>
              <a:rPr lang="en-US" sz="1600">
                <a:highlight>
                  <a:srgbClr val="FFFFFF"/>
                </a:highlight>
                <a:latin typeface="Arial"/>
                <a:ea typeface="Arial"/>
                <a:cs typeface="Arial"/>
                <a:sym typeface="Arial"/>
              </a:rPr>
              <a:t>The coefficient for "English Speaking Very Well" (ESVW) is 16402, indicating that individuals who speak English very well tend to have higher wage earnings compared to those who don't, holding other variables constant.</a:t>
            </a:r>
            <a:endParaRPr sz="1600">
              <a:highlight>
                <a:srgbClr val="FFFFFF"/>
              </a:highlight>
              <a:latin typeface="Arial"/>
              <a:ea typeface="Arial"/>
              <a:cs typeface="Arial"/>
              <a:sym typeface="Arial"/>
            </a:endParaRPr>
          </a:p>
          <a:p>
            <a:pPr indent="0" lvl="0" marL="457200" rtl="0" algn="l">
              <a:lnSpc>
                <a:spcPct val="115000"/>
              </a:lnSpc>
              <a:spcBef>
                <a:spcPts val="1200"/>
              </a:spcBef>
              <a:spcAft>
                <a:spcPts val="0"/>
              </a:spcAft>
              <a:buNone/>
            </a:pPr>
            <a:r>
              <a:t/>
            </a:r>
            <a:endParaRPr sz="1600">
              <a:highlight>
                <a:srgbClr val="FFFFFF"/>
              </a:highlight>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lang="en-US" sz="1600">
                <a:highlight>
                  <a:srgbClr val="FFFFFF"/>
                </a:highlight>
                <a:latin typeface="Arial"/>
                <a:ea typeface="Arial"/>
                <a:cs typeface="Arial"/>
                <a:sym typeface="Arial"/>
              </a:rPr>
              <a:t>The coefficients for race represent the average difference in wage earnings between each racial group and the reference category (White) when other variables are held constant.</a:t>
            </a:r>
            <a:endParaRPr sz="1600">
              <a:highlight>
                <a:srgbClr val="FFFFFF"/>
              </a:highlight>
              <a:latin typeface="Arial"/>
              <a:ea typeface="Arial"/>
              <a:cs typeface="Arial"/>
              <a:sym typeface="Arial"/>
            </a:endParaRPr>
          </a:p>
          <a:p>
            <a:pPr indent="0" lvl="0" marL="457200" rtl="0" algn="l">
              <a:lnSpc>
                <a:spcPct val="115000"/>
              </a:lnSpc>
              <a:spcBef>
                <a:spcPts val="1200"/>
              </a:spcBef>
              <a:spcAft>
                <a:spcPts val="0"/>
              </a:spcAft>
              <a:buNone/>
            </a:pPr>
            <a:r>
              <a:t/>
            </a:r>
            <a:endParaRPr sz="1600">
              <a:highlight>
                <a:srgbClr val="FFFFFF"/>
              </a:highlight>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lang="en-US" sz="1600">
                <a:highlight>
                  <a:srgbClr val="FFFFFF"/>
                </a:highlight>
                <a:latin typeface="Arial"/>
                <a:ea typeface="Arial"/>
                <a:cs typeface="Arial"/>
                <a:sym typeface="Arial"/>
              </a:rPr>
              <a:t>Asian individuals earn approximately 4074 more than White individuals on average (significant).</a:t>
            </a:r>
            <a:endParaRPr sz="1600">
              <a:highlight>
                <a:srgbClr val="FFFFFF"/>
              </a:highlight>
              <a:latin typeface="Arial"/>
              <a:ea typeface="Arial"/>
              <a:cs typeface="Arial"/>
              <a:sym typeface="Arial"/>
            </a:endParaRPr>
          </a:p>
          <a:p>
            <a:pPr indent="0" lvl="0" marL="457200" rtl="0" algn="l">
              <a:lnSpc>
                <a:spcPct val="115000"/>
              </a:lnSpc>
              <a:spcBef>
                <a:spcPts val="1200"/>
              </a:spcBef>
              <a:spcAft>
                <a:spcPts val="0"/>
              </a:spcAft>
              <a:buNone/>
            </a:pPr>
            <a:r>
              <a:t/>
            </a:r>
            <a:endParaRPr sz="1600">
              <a:highlight>
                <a:srgbClr val="FFFFFF"/>
              </a:highlight>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lang="en-US" sz="1600">
                <a:highlight>
                  <a:srgbClr val="FFFFFF"/>
                </a:highlight>
                <a:latin typeface="Arial"/>
                <a:ea typeface="Arial"/>
                <a:cs typeface="Arial"/>
                <a:sym typeface="Arial"/>
              </a:rPr>
              <a:t>Black individuals earn approximately 5552 more than White individuals on average, but this difference is not statistically significant.</a:t>
            </a:r>
            <a:endParaRPr sz="1600">
              <a:highlight>
                <a:srgbClr val="FFFFFF"/>
              </a:highlight>
              <a:latin typeface="Arial"/>
              <a:ea typeface="Arial"/>
              <a:cs typeface="Arial"/>
              <a:sym typeface="Arial"/>
            </a:endParaRPr>
          </a:p>
          <a:p>
            <a:pPr indent="0" lvl="0" marL="457200" rtl="0" algn="l">
              <a:lnSpc>
                <a:spcPct val="115000"/>
              </a:lnSpc>
              <a:spcBef>
                <a:spcPts val="1200"/>
              </a:spcBef>
              <a:spcAft>
                <a:spcPts val="0"/>
              </a:spcAft>
              <a:buNone/>
            </a:pPr>
            <a:r>
              <a:t/>
            </a:r>
            <a:endParaRPr sz="1600">
              <a:highlight>
                <a:srgbClr val="FFFFFF"/>
              </a:highlight>
              <a:latin typeface="Arial"/>
              <a:ea typeface="Arial"/>
              <a:cs typeface="Arial"/>
              <a:sym typeface="Arial"/>
            </a:endParaRPr>
          </a:p>
          <a:p>
            <a:pPr indent="-330200" lvl="0" marL="457200" rtl="0" algn="l">
              <a:lnSpc>
                <a:spcPct val="115000"/>
              </a:lnSpc>
              <a:spcBef>
                <a:spcPts val="1200"/>
              </a:spcBef>
              <a:spcAft>
                <a:spcPts val="0"/>
              </a:spcAft>
              <a:buSzPts val="1600"/>
              <a:buFont typeface="Arial"/>
              <a:buAutoNum type="arabicPeriod"/>
            </a:pPr>
            <a:r>
              <a:rPr lang="en-US" sz="1600">
                <a:highlight>
                  <a:srgbClr val="FFFFFF"/>
                </a:highlight>
                <a:latin typeface="Arial"/>
                <a:ea typeface="Arial"/>
                <a:cs typeface="Arial"/>
                <a:sym typeface="Arial"/>
              </a:rPr>
              <a:t>Other racial groups earn approximately 59 more than White individuals on average, but this difference is also not statistically significant.</a:t>
            </a:r>
            <a:endParaRPr b="1" sz="1600">
              <a:highlight>
                <a:srgbClr val="FFFFFF"/>
              </a:highlight>
              <a:latin typeface="Arial"/>
              <a:ea typeface="Arial"/>
              <a:cs typeface="Arial"/>
              <a:sym typeface="Arial"/>
            </a:endParaRPr>
          </a:p>
        </p:txBody>
      </p:sp>
      <p:sp>
        <p:nvSpPr>
          <p:cNvPr id="148" name="Google Shape;148;g2c1eb690462_7_2"/>
          <p:cNvSpPr txBox="1"/>
          <p:nvPr>
            <p:ph type="title"/>
          </p:nvPr>
        </p:nvSpPr>
        <p:spPr>
          <a:xfrm>
            <a:off x="782700" y="-43850"/>
            <a:ext cx="10626600" cy="9000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SzPts val="990"/>
              <a:buNone/>
            </a:pPr>
            <a:r>
              <a:rPr lang="en-US" sz="5000"/>
              <a:t>Interpretation of the model</a:t>
            </a:r>
            <a:r>
              <a:rPr i="1" lang="en-US" sz="5000"/>
              <a:t> (continued)</a:t>
            </a:r>
            <a:endParaRPr sz="5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c1eb690462_5_34"/>
          <p:cNvSpPr txBox="1"/>
          <p:nvPr>
            <p:ph type="title"/>
          </p:nvPr>
        </p:nvSpPr>
        <p:spPr>
          <a:xfrm>
            <a:off x="873150" y="1095000"/>
            <a:ext cx="10515600" cy="4969800"/>
          </a:xfrm>
          <a:prstGeom prst="rect">
            <a:avLst/>
          </a:prstGeom>
        </p:spPr>
        <p:txBody>
          <a:bodyPr anchorCtr="0" anchor="t" bIns="121900" lIns="121900" spcFirstLastPara="1" rIns="121900" wrap="square" tIns="121900">
            <a:noAutofit/>
          </a:bodyPr>
          <a:lstStyle/>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Interaction terms: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Font typeface="Arial"/>
              <a:buChar char="●"/>
            </a:pPr>
            <a:r>
              <a:rPr lang="en-US" sz="1600">
                <a:latin typeface="Arial"/>
                <a:ea typeface="Arial"/>
                <a:cs typeface="Arial"/>
                <a:sym typeface="Arial"/>
              </a:rPr>
              <a:t>Interaction term: Captures the joint impact of two or more variables in a regression analysis</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Significance: Determines if the relationship between variables differs when considered together.</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lang="en-US" sz="1600">
                <a:latin typeface="Arial"/>
                <a:ea typeface="Arial"/>
                <a:cs typeface="Arial"/>
                <a:sym typeface="Arial"/>
              </a:rPr>
              <a:t>Example: "Asian:</a:t>
            </a:r>
            <a:r>
              <a:rPr lang="en-US" sz="1600">
                <a:latin typeface="Arial"/>
                <a:ea typeface="Arial"/>
                <a:cs typeface="Arial"/>
                <a:sym typeface="Arial"/>
              </a:rPr>
              <a:t>English Speaking Very Well</a:t>
            </a:r>
            <a:r>
              <a:rPr lang="en-US" sz="1600">
                <a:latin typeface="Arial"/>
                <a:ea typeface="Arial"/>
                <a:cs typeface="Arial"/>
                <a:sym typeface="Arial"/>
              </a:rPr>
              <a:t>" in your results signifies the combined effect of Asian ethnicity and English-speaking proficiency on earnings.</a:t>
            </a:r>
            <a:endParaRPr sz="16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rPr b="1" lang="en-US" sz="1600">
                <a:latin typeface="Arial"/>
                <a:ea typeface="Arial"/>
                <a:cs typeface="Arial"/>
                <a:sym typeface="Arial"/>
              </a:rPr>
              <a:t>Interaction Effects:</a:t>
            </a:r>
            <a:r>
              <a:rPr lang="en-US" sz="1600">
                <a:latin typeface="Arial"/>
                <a:ea typeface="Arial"/>
                <a:cs typeface="Arial"/>
                <a:sym typeface="Arial"/>
              </a:rPr>
              <a:t> The interaction terms show how the effect of English speaking ability on wage earnings varies across different racial groups.</a:t>
            </a:r>
            <a:endParaRPr sz="16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600">
              <a:latin typeface="Arial"/>
              <a:ea typeface="Arial"/>
              <a:cs typeface="Arial"/>
              <a:sym typeface="Arial"/>
            </a:endParaRPr>
          </a:p>
          <a:p>
            <a:pPr indent="-330200" lvl="0" marL="457200" rtl="0" algn="l">
              <a:spcBef>
                <a:spcPts val="0"/>
              </a:spcBef>
              <a:spcAft>
                <a:spcPts val="0"/>
              </a:spcAft>
              <a:buSzPts val="1600"/>
              <a:buFont typeface="Arial"/>
              <a:buAutoNum type="arabicPeriod"/>
            </a:pPr>
            <a:r>
              <a:rPr lang="en-US" sz="1600">
                <a:latin typeface="Arial"/>
                <a:ea typeface="Arial"/>
                <a:cs typeface="Arial"/>
                <a:sym typeface="Arial"/>
              </a:rPr>
              <a:t>For Asian individuals who speak English very well, their wage earnings increase by an additional 12023 compared to Asians who don't speak English very well (significant).</a:t>
            </a:r>
            <a:endParaRPr sz="1600">
              <a:latin typeface="Arial"/>
              <a:ea typeface="Arial"/>
              <a:cs typeface="Arial"/>
              <a:sym typeface="Arial"/>
            </a:endParaRPr>
          </a:p>
          <a:p>
            <a:pPr indent="0" lvl="0" marL="0" rtl="0" algn="l">
              <a:spcBef>
                <a:spcPts val="0"/>
              </a:spcBef>
              <a:spcAft>
                <a:spcPts val="0"/>
              </a:spcAft>
              <a:buNone/>
            </a:pPr>
            <a:r>
              <a:t/>
            </a:r>
            <a:endParaRPr sz="1600">
              <a:latin typeface="Arial"/>
              <a:ea typeface="Arial"/>
              <a:cs typeface="Arial"/>
              <a:sym typeface="Arial"/>
            </a:endParaRPr>
          </a:p>
          <a:p>
            <a:pPr indent="-330200" lvl="0" marL="457200" rtl="0" algn="l">
              <a:spcBef>
                <a:spcPts val="0"/>
              </a:spcBef>
              <a:spcAft>
                <a:spcPts val="0"/>
              </a:spcAft>
              <a:buSzPts val="1600"/>
              <a:buFont typeface="Arial"/>
              <a:buAutoNum type="arabicPeriod"/>
            </a:pPr>
            <a:r>
              <a:rPr lang="en-US" sz="1600">
                <a:latin typeface="Arial"/>
                <a:ea typeface="Arial"/>
                <a:cs typeface="Arial"/>
                <a:sym typeface="Arial"/>
              </a:rPr>
              <a:t>For Black individuals who speak English very well, their wage earnings decrease by 8648 compared to Blacks who don't speak English very well (significant)</a:t>
            </a:r>
            <a:endParaRPr sz="1600">
              <a:latin typeface="Arial"/>
              <a:ea typeface="Arial"/>
              <a:cs typeface="Arial"/>
              <a:sym typeface="Arial"/>
            </a:endParaRPr>
          </a:p>
          <a:p>
            <a:pPr indent="0" lvl="0" marL="457200" rtl="0" algn="l">
              <a:spcBef>
                <a:spcPts val="0"/>
              </a:spcBef>
              <a:spcAft>
                <a:spcPts val="0"/>
              </a:spcAft>
              <a:buNone/>
            </a:pPr>
            <a:r>
              <a:t/>
            </a:r>
            <a:endParaRPr sz="1600">
              <a:latin typeface="Arial"/>
              <a:ea typeface="Arial"/>
              <a:cs typeface="Arial"/>
              <a:sym typeface="Arial"/>
            </a:endParaRPr>
          </a:p>
          <a:p>
            <a:pPr indent="-330200" lvl="0" marL="457200" rtl="0" algn="l">
              <a:spcBef>
                <a:spcPts val="0"/>
              </a:spcBef>
              <a:spcAft>
                <a:spcPts val="0"/>
              </a:spcAft>
              <a:buSzPts val="1600"/>
              <a:buFont typeface="Arial"/>
              <a:buAutoNum type="arabicPeriod"/>
            </a:pPr>
            <a:r>
              <a:rPr lang="en-US" sz="1600">
                <a:latin typeface="Arial"/>
                <a:ea typeface="Arial"/>
                <a:cs typeface="Arial"/>
                <a:sym typeface="Arial"/>
              </a:rPr>
              <a:t>For individuals from other racial groups who speak English very well, their wage earnings decrease by 2047 compared to those who don't, but this difference is not statistically significant.</a:t>
            </a:r>
            <a:endParaRPr sz="16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600">
              <a:latin typeface="Arial"/>
              <a:ea typeface="Arial"/>
              <a:cs typeface="Arial"/>
              <a:sym typeface="Arial"/>
            </a:endParaRPr>
          </a:p>
          <a:p>
            <a:pPr indent="0" lvl="0" marL="0" rtl="0" algn="l">
              <a:spcBef>
                <a:spcPts val="0"/>
              </a:spcBef>
              <a:spcAft>
                <a:spcPts val="0"/>
              </a:spcAft>
              <a:buNone/>
            </a:pPr>
            <a:r>
              <a:t/>
            </a:r>
            <a:endParaRPr sz="1600">
              <a:latin typeface="Arial"/>
              <a:ea typeface="Arial"/>
              <a:cs typeface="Arial"/>
              <a:sym typeface="Arial"/>
            </a:endParaRPr>
          </a:p>
        </p:txBody>
      </p:sp>
      <p:sp>
        <p:nvSpPr>
          <p:cNvPr id="155" name="Google Shape;155;g2c1eb690462_5_34"/>
          <p:cNvSpPr txBox="1"/>
          <p:nvPr>
            <p:ph type="title"/>
          </p:nvPr>
        </p:nvSpPr>
        <p:spPr>
          <a:xfrm>
            <a:off x="782700" y="-43850"/>
            <a:ext cx="10626600" cy="9000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SzPts val="990"/>
              <a:buNone/>
            </a:pPr>
            <a:r>
              <a:rPr lang="en-US" sz="5000"/>
              <a:t>…</a:t>
            </a:r>
            <a:r>
              <a:rPr lang="en-US" sz="5000"/>
              <a:t>Interpretation</a:t>
            </a:r>
            <a:endParaRPr sz="5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2c242ad9053_8_5"/>
          <p:cNvSpPr txBox="1"/>
          <p:nvPr>
            <p:ph type="title"/>
          </p:nvPr>
        </p:nvSpPr>
        <p:spPr>
          <a:xfrm>
            <a:off x="415650" y="949800"/>
            <a:ext cx="11360700" cy="49584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Clr>
                <a:schemeClr val="dk1"/>
              </a:buClr>
              <a:buSzPct val="52380"/>
              <a:buFont typeface="Arial"/>
              <a:buNone/>
            </a:pPr>
            <a:r>
              <a:rPr b="1" lang="en-US" sz="2100">
                <a:latin typeface="Calibri"/>
                <a:ea typeface="Calibri"/>
                <a:cs typeface="Calibri"/>
                <a:sym typeface="Calibri"/>
              </a:rPr>
              <a:t>Overall Interpretation</a:t>
            </a:r>
            <a:endParaRPr b="1" sz="2100">
              <a:latin typeface="Calibri"/>
              <a:ea typeface="Calibri"/>
              <a:cs typeface="Calibri"/>
              <a:sym typeface="Calibri"/>
            </a:endParaRPr>
          </a:p>
          <a:p>
            <a:pPr indent="0" lvl="0" marL="0" rtl="0" algn="l">
              <a:spcBef>
                <a:spcPts val="0"/>
              </a:spcBef>
              <a:spcAft>
                <a:spcPts val="0"/>
              </a:spcAft>
              <a:buClr>
                <a:schemeClr val="dk1"/>
              </a:buClr>
              <a:buSzPct val="52380"/>
              <a:buFont typeface="Arial"/>
              <a:buNone/>
            </a:pPr>
            <a:r>
              <a:t/>
            </a:r>
            <a:endParaRPr sz="2100">
              <a:latin typeface="Calibri"/>
              <a:ea typeface="Calibri"/>
              <a:cs typeface="Calibri"/>
              <a:sym typeface="Calibri"/>
            </a:endParaRPr>
          </a:p>
          <a:p>
            <a:pPr indent="-348615" lvl="0" marL="457200" rtl="0" algn="l">
              <a:spcBef>
                <a:spcPts val="0"/>
              </a:spcBef>
              <a:spcAft>
                <a:spcPts val="0"/>
              </a:spcAft>
              <a:buSzPct val="100000"/>
              <a:buFont typeface="Calibri"/>
              <a:buAutoNum type="arabicPeriod"/>
            </a:pPr>
            <a:r>
              <a:rPr lang="en-US" sz="2100">
                <a:latin typeface="Calibri"/>
                <a:ea typeface="Calibri"/>
                <a:cs typeface="Calibri"/>
                <a:sym typeface="Calibri"/>
              </a:rPr>
              <a:t>Overall, proficiency in speaking English is associated with higher wage earnings across all racial groups.</a:t>
            </a:r>
            <a:br>
              <a:rPr lang="en-US" sz="2100">
                <a:latin typeface="Calibri"/>
                <a:ea typeface="Calibri"/>
                <a:cs typeface="Calibri"/>
                <a:sym typeface="Calibri"/>
              </a:rPr>
            </a:br>
            <a:endParaRPr sz="2100">
              <a:latin typeface="Calibri"/>
              <a:ea typeface="Calibri"/>
              <a:cs typeface="Calibri"/>
              <a:sym typeface="Calibri"/>
            </a:endParaRPr>
          </a:p>
          <a:p>
            <a:pPr indent="-348615" lvl="0" marL="457200" rtl="0" algn="l">
              <a:spcBef>
                <a:spcPts val="0"/>
              </a:spcBef>
              <a:spcAft>
                <a:spcPts val="0"/>
              </a:spcAft>
              <a:buSzPct val="100000"/>
              <a:buFont typeface="Calibri"/>
              <a:buAutoNum type="arabicPeriod"/>
            </a:pPr>
            <a:r>
              <a:rPr lang="en-US" sz="2100">
                <a:latin typeface="Calibri"/>
                <a:ea typeface="Calibri"/>
                <a:cs typeface="Calibri"/>
                <a:sym typeface="Calibri"/>
              </a:rPr>
              <a:t>The effect of English speaking ability on wage earnings differs among racial groups. For Asians, the effect is positive and significant, indicating a substantial wage premium for English proficiency. However, for Blacks, although speaking English very well is associated with higher wages, the magnitude is lower compared to the general effect of English proficiency, and it's statistically significant but negative. This suggests a complex relationship between English proficiency, race, and wage earnings.</a:t>
            </a:r>
            <a:br>
              <a:rPr lang="en-US" sz="2100">
                <a:latin typeface="Calibri"/>
                <a:ea typeface="Calibri"/>
                <a:cs typeface="Calibri"/>
                <a:sym typeface="Calibri"/>
              </a:rPr>
            </a:br>
            <a:endParaRPr sz="2100">
              <a:latin typeface="Calibri"/>
              <a:ea typeface="Calibri"/>
              <a:cs typeface="Calibri"/>
              <a:sym typeface="Calibri"/>
            </a:endParaRPr>
          </a:p>
          <a:p>
            <a:pPr indent="-348615" lvl="0" marL="457200" rtl="0" algn="l">
              <a:spcBef>
                <a:spcPts val="0"/>
              </a:spcBef>
              <a:spcAft>
                <a:spcPts val="0"/>
              </a:spcAft>
              <a:buSzPct val="100000"/>
              <a:buFont typeface="Calibri"/>
              <a:buAutoNum type="arabicPeriod"/>
            </a:pPr>
            <a:r>
              <a:rPr lang="en-US" sz="2100">
                <a:latin typeface="Calibri"/>
                <a:ea typeface="Calibri"/>
                <a:cs typeface="Calibri"/>
                <a:sym typeface="Calibri"/>
              </a:rPr>
              <a:t>For other racial groups, there is no significant effect of English proficiency on wage earnings, but the sample size or other factors may be influencing this result.</a:t>
            </a:r>
            <a:br>
              <a:rPr lang="en-US" sz="2100">
                <a:latin typeface="Calibri"/>
                <a:ea typeface="Calibri"/>
                <a:cs typeface="Calibri"/>
                <a:sym typeface="Calibri"/>
              </a:rPr>
            </a:br>
            <a:endParaRPr sz="2100">
              <a:latin typeface="Calibri"/>
              <a:ea typeface="Calibri"/>
              <a:cs typeface="Calibri"/>
              <a:sym typeface="Calibri"/>
            </a:endParaRPr>
          </a:p>
          <a:p>
            <a:pPr indent="-348615" lvl="0" marL="457200" rtl="0" algn="l">
              <a:spcBef>
                <a:spcPts val="0"/>
              </a:spcBef>
              <a:spcAft>
                <a:spcPts val="0"/>
              </a:spcAft>
              <a:buSzPct val="100000"/>
              <a:buFont typeface="Calibri"/>
              <a:buAutoNum type="arabicPeriod"/>
            </a:pPr>
            <a:r>
              <a:rPr lang="en-US" sz="2100">
                <a:latin typeface="Calibri"/>
                <a:ea typeface="Calibri"/>
                <a:cs typeface="Calibri"/>
                <a:sym typeface="Calibri"/>
              </a:rPr>
              <a:t>In summary, the model suggests that while English speaking ability generally leads to higher wage earnings, the relationship varies across different racial groups, indicating potential disparities that merit further investigation.</a:t>
            </a:r>
            <a:endParaRPr sz="2000"/>
          </a:p>
        </p:txBody>
      </p:sp>
      <p:sp>
        <p:nvSpPr>
          <p:cNvPr id="162" name="Google Shape;162;g2c242ad9053_8_5"/>
          <p:cNvSpPr txBox="1"/>
          <p:nvPr>
            <p:ph type="title"/>
          </p:nvPr>
        </p:nvSpPr>
        <p:spPr>
          <a:xfrm>
            <a:off x="782700" y="-43850"/>
            <a:ext cx="10626600" cy="9000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SzPts val="990"/>
              <a:buNone/>
            </a:pPr>
            <a:r>
              <a:rPr lang="en-US" sz="5000"/>
              <a:t>..</a:t>
            </a:r>
            <a:r>
              <a:rPr lang="en-US" sz="5000"/>
              <a:t>Interpretation</a:t>
            </a:r>
            <a:endParaRPr sz="5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c154ad4d96_0_30"/>
          <p:cNvSpPr txBox="1"/>
          <p:nvPr>
            <p:ph type="title"/>
          </p:nvPr>
        </p:nvSpPr>
        <p:spPr>
          <a:xfrm>
            <a:off x="838200" y="105375"/>
            <a:ext cx="10515600" cy="932700"/>
          </a:xfrm>
          <a:prstGeom prst="rect">
            <a:avLst/>
          </a:prstGeom>
        </p:spPr>
        <p:txBody>
          <a:bodyPr anchorCtr="0" anchor="t" bIns="45700" lIns="91425" spcFirstLastPara="1" rIns="91425" wrap="square" tIns="45700">
            <a:normAutofit/>
          </a:bodyPr>
          <a:lstStyle/>
          <a:p>
            <a:pPr indent="0" lvl="0" marL="0" rtl="0" algn="ctr">
              <a:spcBef>
                <a:spcPts val="0"/>
              </a:spcBef>
              <a:spcAft>
                <a:spcPts val="0"/>
              </a:spcAft>
              <a:buNone/>
            </a:pPr>
            <a:r>
              <a:rPr lang="en-US" sz="5000"/>
              <a:t>Key Insights &amp; Recommendations</a:t>
            </a:r>
            <a:endParaRPr sz="5000"/>
          </a:p>
        </p:txBody>
      </p:sp>
      <p:sp>
        <p:nvSpPr>
          <p:cNvPr id="169" name="Google Shape;169;g2c154ad4d96_0_30"/>
          <p:cNvSpPr txBox="1"/>
          <p:nvPr>
            <p:ph idx="1" type="body"/>
          </p:nvPr>
        </p:nvSpPr>
        <p:spPr>
          <a:xfrm>
            <a:off x="838200" y="1297825"/>
            <a:ext cx="10515600" cy="5298900"/>
          </a:xfrm>
          <a:prstGeom prst="rect">
            <a:avLst/>
          </a:prstGeom>
        </p:spPr>
        <p:txBody>
          <a:bodyPr anchorCtr="0" anchor="ctr" bIns="45700" lIns="91425" spcFirstLastPara="1" rIns="91425" wrap="square" tIns="45700">
            <a:noAutofit/>
          </a:bodyPr>
          <a:lstStyle/>
          <a:p>
            <a:pPr indent="0" lvl="0" marL="0" rtl="0" algn="l">
              <a:spcBef>
                <a:spcPts val="1000"/>
              </a:spcBef>
              <a:spcAft>
                <a:spcPts val="0"/>
              </a:spcAft>
              <a:buNone/>
            </a:pPr>
            <a:r>
              <a:rPr lang="en-US" sz="1400"/>
              <a:t>Key Insights</a:t>
            </a:r>
            <a:br>
              <a:rPr lang="en-US" sz="1400"/>
            </a:br>
            <a:endParaRPr sz="1400"/>
          </a:p>
          <a:p>
            <a:pPr indent="-317500" lvl="0" marL="457200" rtl="0" algn="l">
              <a:spcBef>
                <a:spcPts val="1600"/>
              </a:spcBef>
              <a:spcAft>
                <a:spcPts val="0"/>
              </a:spcAft>
              <a:buSzPts val="1400"/>
              <a:buChar char="●"/>
            </a:pPr>
            <a:r>
              <a:rPr lang="en-US" sz="1400"/>
              <a:t>Race Impact - Asians higher earnings than Black &amp; White</a:t>
            </a:r>
            <a:br>
              <a:rPr lang="en-US" sz="1400"/>
            </a:br>
            <a:endParaRPr sz="1400"/>
          </a:p>
          <a:p>
            <a:pPr indent="-317500" lvl="0" marL="457200" rtl="0" algn="l">
              <a:spcBef>
                <a:spcPts val="0"/>
              </a:spcBef>
              <a:spcAft>
                <a:spcPts val="0"/>
              </a:spcAft>
              <a:buSzPts val="1400"/>
              <a:buChar char="●"/>
            </a:pPr>
            <a:r>
              <a:rPr lang="en-US" sz="1400"/>
              <a:t>English Proficiency - Well Spoken English +ve influence on earnings especially for Asian &amp; White</a:t>
            </a:r>
            <a:br>
              <a:rPr lang="en-US" sz="1400"/>
            </a:br>
            <a:endParaRPr sz="1400"/>
          </a:p>
          <a:p>
            <a:pPr indent="-317500" lvl="0" marL="457200" rtl="0" algn="l">
              <a:spcBef>
                <a:spcPts val="0"/>
              </a:spcBef>
              <a:spcAft>
                <a:spcPts val="0"/>
              </a:spcAft>
              <a:buSzPts val="1400"/>
              <a:buChar char="●"/>
            </a:pPr>
            <a:r>
              <a:rPr lang="en-US" sz="1400"/>
              <a:t>Education Level - Bachelors, Masters associate with high earnings</a:t>
            </a:r>
            <a:endParaRPr sz="1400"/>
          </a:p>
          <a:p>
            <a:pPr indent="0" lvl="0" marL="0" rtl="0" algn="l">
              <a:spcBef>
                <a:spcPts val="1600"/>
              </a:spcBef>
              <a:spcAft>
                <a:spcPts val="0"/>
              </a:spcAft>
              <a:buNone/>
            </a:pPr>
            <a:br>
              <a:rPr lang="en-US" sz="1400"/>
            </a:br>
            <a:r>
              <a:rPr lang="en-US" sz="1400"/>
              <a:t>Recommendations</a:t>
            </a:r>
            <a:br>
              <a:rPr lang="en-US" sz="1400"/>
            </a:br>
            <a:endParaRPr sz="1400"/>
          </a:p>
          <a:p>
            <a:pPr indent="-317500" lvl="0" marL="457200" rtl="0" algn="l">
              <a:spcBef>
                <a:spcPts val="1600"/>
              </a:spcBef>
              <a:spcAft>
                <a:spcPts val="0"/>
              </a:spcAft>
              <a:buSzPts val="1400"/>
              <a:buChar char="●"/>
            </a:pPr>
            <a:r>
              <a:rPr lang="en-US" sz="1400"/>
              <a:t>Policy Makers - Targeted programs, remove barriers for education</a:t>
            </a:r>
            <a:br>
              <a:rPr lang="en-US" sz="1400"/>
            </a:br>
            <a:endParaRPr sz="1400"/>
          </a:p>
          <a:p>
            <a:pPr indent="-317500" lvl="0" marL="457200" rtl="0" algn="l">
              <a:spcBef>
                <a:spcPts val="0"/>
              </a:spcBef>
              <a:spcAft>
                <a:spcPts val="0"/>
              </a:spcAft>
              <a:buSzPts val="1400"/>
              <a:buChar char="●"/>
            </a:pPr>
            <a:r>
              <a:rPr lang="en-US" sz="1400"/>
              <a:t>Employers - </a:t>
            </a:r>
            <a:r>
              <a:rPr lang="en-US" sz="1400"/>
              <a:t>Encourage</a:t>
            </a:r>
            <a:r>
              <a:rPr lang="en-US" sz="1400"/>
              <a:t> language </a:t>
            </a:r>
            <a:r>
              <a:rPr lang="en-US" sz="1400"/>
              <a:t>training</a:t>
            </a:r>
            <a:r>
              <a:rPr lang="en-US" sz="1400"/>
              <a:t> programmes</a:t>
            </a:r>
            <a:endParaRPr sz="1400"/>
          </a:p>
          <a:p>
            <a:pPr indent="0" lvl="0" marL="0" rtl="0" algn="l">
              <a:spcBef>
                <a:spcPts val="1600"/>
              </a:spcBef>
              <a:spcAft>
                <a:spcPts val="1600"/>
              </a:spcAft>
              <a:buNone/>
            </a:pPr>
            <a:r>
              <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c154ad4ee3_0_6"/>
          <p:cNvSpPr txBox="1"/>
          <p:nvPr>
            <p:ph type="title"/>
          </p:nvPr>
        </p:nvSpPr>
        <p:spPr>
          <a:xfrm>
            <a:off x="838200" y="123725"/>
            <a:ext cx="10515600" cy="686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000"/>
              <a:t>Implications &amp; Future Research</a:t>
            </a:r>
            <a:endParaRPr sz="5000"/>
          </a:p>
        </p:txBody>
      </p:sp>
      <p:sp>
        <p:nvSpPr>
          <p:cNvPr id="176" name="Google Shape;176;g2c154ad4ee3_0_6"/>
          <p:cNvSpPr txBox="1"/>
          <p:nvPr>
            <p:ph idx="1" type="body"/>
          </p:nvPr>
        </p:nvSpPr>
        <p:spPr>
          <a:xfrm>
            <a:off x="838200" y="1489400"/>
            <a:ext cx="10593000" cy="5117400"/>
          </a:xfrm>
          <a:prstGeom prst="rect">
            <a:avLst/>
          </a:prstGeom>
        </p:spPr>
        <p:txBody>
          <a:bodyPr anchorCtr="0" anchor="ctr" bIns="45700" lIns="91425" spcFirstLastPara="1" rIns="91425" wrap="square" tIns="45700">
            <a:noAutofit/>
          </a:bodyPr>
          <a:lstStyle/>
          <a:p>
            <a:pPr indent="0" lvl="0" marL="0" rtl="0" algn="l">
              <a:spcBef>
                <a:spcPts val="1000"/>
              </a:spcBef>
              <a:spcAft>
                <a:spcPts val="0"/>
              </a:spcAft>
              <a:buClr>
                <a:schemeClr val="dk1"/>
              </a:buClr>
              <a:buSzPts val="1100"/>
              <a:buFont typeface="Arial"/>
              <a:buNone/>
            </a:pPr>
            <a:r>
              <a:rPr lang="en-US" sz="1400"/>
              <a:t>Implications</a:t>
            </a:r>
            <a:endParaRPr sz="1400"/>
          </a:p>
          <a:p>
            <a:pPr indent="-317500" lvl="0" marL="457200" rtl="0" algn="l">
              <a:spcBef>
                <a:spcPts val="1600"/>
              </a:spcBef>
              <a:spcAft>
                <a:spcPts val="0"/>
              </a:spcAft>
              <a:buSzPts val="1400"/>
              <a:buChar char="●"/>
            </a:pPr>
            <a:r>
              <a:rPr lang="en-US" sz="1400"/>
              <a:t>Intersectionality : Race &amp; </a:t>
            </a:r>
            <a:r>
              <a:rPr lang="en-US" sz="1400"/>
              <a:t>Language proficient in economic outcomes</a:t>
            </a:r>
            <a:r>
              <a:rPr lang="en-US" sz="1400"/>
              <a:t> </a:t>
            </a:r>
            <a:br>
              <a:rPr lang="en-US" sz="1400"/>
            </a:br>
            <a:endParaRPr sz="1400"/>
          </a:p>
          <a:p>
            <a:pPr indent="-317500" lvl="0" marL="457200" rtl="0" algn="l">
              <a:spcBef>
                <a:spcPts val="0"/>
              </a:spcBef>
              <a:spcAft>
                <a:spcPts val="0"/>
              </a:spcAft>
              <a:buSzPts val="1400"/>
              <a:buChar char="●"/>
            </a:pPr>
            <a:r>
              <a:rPr lang="en-US" sz="1400"/>
              <a:t>Diversity Policies: Need for Diversity and Inclusion policies</a:t>
            </a:r>
            <a:endParaRPr sz="1400"/>
          </a:p>
          <a:p>
            <a:pPr indent="0" lvl="0" marL="0" rtl="0" algn="l">
              <a:spcBef>
                <a:spcPts val="1600"/>
              </a:spcBef>
              <a:spcAft>
                <a:spcPts val="0"/>
              </a:spcAft>
              <a:buClr>
                <a:schemeClr val="dk1"/>
              </a:buClr>
              <a:buSzPts val="1100"/>
              <a:buFont typeface="Arial"/>
              <a:buNone/>
            </a:pPr>
            <a:r>
              <a:t/>
            </a:r>
            <a:endParaRPr sz="1400"/>
          </a:p>
          <a:p>
            <a:pPr indent="0" lvl="0" marL="0" rtl="0" algn="l">
              <a:spcBef>
                <a:spcPts val="1600"/>
              </a:spcBef>
              <a:spcAft>
                <a:spcPts val="0"/>
              </a:spcAft>
              <a:buClr>
                <a:schemeClr val="dk1"/>
              </a:buClr>
              <a:buSzPts val="1100"/>
              <a:buFont typeface="Arial"/>
              <a:buNone/>
            </a:pPr>
            <a:r>
              <a:rPr lang="en-US" sz="1400"/>
              <a:t>Future Research</a:t>
            </a:r>
            <a:br>
              <a:rPr lang="en-US" sz="1400"/>
            </a:br>
            <a:endParaRPr sz="1400"/>
          </a:p>
          <a:p>
            <a:pPr indent="-317500" lvl="0" marL="457200" rtl="0" algn="l">
              <a:spcBef>
                <a:spcPts val="1600"/>
              </a:spcBef>
              <a:spcAft>
                <a:spcPts val="0"/>
              </a:spcAft>
              <a:buSzPts val="1400"/>
              <a:buChar char="●"/>
            </a:pPr>
            <a:r>
              <a:rPr lang="en-US" sz="1400"/>
              <a:t>Longitudinal</a:t>
            </a:r>
            <a:r>
              <a:rPr lang="en-US" sz="1400"/>
              <a:t>: Track race, </a:t>
            </a:r>
            <a:r>
              <a:rPr lang="en-US" sz="1400"/>
              <a:t>language &amp; education influence over time</a:t>
            </a:r>
            <a:br>
              <a:rPr lang="en-US" sz="1400"/>
            </a:br>
            <a:endParaRPr sz="1400"/>
          </a:p>
          <a:p>
            <a:pPr indent="-317500" lvl="0" marL="457200" rtl="0" algn="l">
              <a:spcBef>
                <a:spcPts val="0"/>
              </a:spcBef>
              <a:spcAft>
                <a:spcPts val="0"/>
              </a:spcAft>
              <a:buSzPts val="1400"/>
              <a:buChar char="●"/>
            </a:pPr>
            <a:r>
              <a:rPr lang="en-US" sz="1400"/>
              <a:t>Industry Specific: Explore specific industries, targeted interventions</a:t>
            </a:r>
            <a:br>
              <a:rPr lang="en-US" sz="1400"/>
            </a:br>
            <a:endParaRPr sz="1400"/>
          </a:p>
          <a:p>
            <a:pPr indent="-317500" lvl="0" marL="457200" rtl="0" algn="l">
              <a:spcBef>
                <a:spcPts val="0"/>
              </a:spcBef>
              <a:spcAft>
                <a:spcPts val="0"/>
              </a:spcAft>
              <a:buSzPts val="1400"/>
              <a:buChar char="●"/>
            </a:pPr>
            <a:r>
              <a:rPr lang="en-US" sz="1400"/>
              <a:t>Policy Evaluations: Evaluate effectiveness of current policies for reducing disparities</a:t>
            </a:r>
            <a:endParaRPr sz="1400"/>
          </a:p>
          <a:p>
            <a:pPr indent="0" lvl="0" marL="0" rtl="0" algn="l">
              <a:spcBef>
                <a:spcPts val="1600"/>
              </a:spcBef>
              <a:spcAft>
                <a:spcPts val="0"/>
              </a:spcAft>
              <a:buClr>
                <a:schemeClr val="dk1"/>
              </a:buClr>
              <a:buSzPts val="1100"/>
              <a:buFont typeface="Arial"/>
              <a:buNone/>
            </a:pPr>
            <a:r>
              <a:t/>
            </a:r>
            <a:endParaRPr sz="1400"/>
          </a:p>
          <a:p>
            <a:pPr indent="0" lvl="0" marL="0" rtl="0" algn="l">
              <a:spcBef>
                <a:spcPts val="1600"/>
              </a:spcBef>
              <a:spcAft>
                <a:spcPts val="160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c1eb690462_9_2"/>
          <p:cNvSpPr txBox="1"/>
          <p:nvPr>
            <p:ph type="title"/>
          </p:nvPr>
        </p:nvSpPr>
        <p:spPr>
          <a:xfrm>
            <a:off x="838200" y="106475"/>
            <a:ext cx="10515600" cy="7413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sz="5000"/>
              <a:t>Conclusion &amp; Limitations</a:t>
            </a:r>
            <a:endParaRPr sz="5000"/>
          </a:p>
        </p:txBody>
      </p:sp>
      <p:sp>
        <p:nvSpPr>
          <p:cNvPr id="183" name="Google Shape;183;g2c1eb690462_9_2"/>
          <p:cNvSpPr txBox="1"/>
          <p:nvPr>
            <p:ph idx="1" type="body"/>
          </p:nvPr>
        </p:nvSpPr>
        <p:spPr>
          <a:xfrm>
            <a:off x="924100" y="1539025"/>
            <a:ext cx="10515600" cy="3590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sz="1400"/>
              <a:t>Conclusions</a:t>
            </a:r>
            <a:endParaRPr sz="1400"/>
          </a:p>
          <a:p>
            <a:pPr indent="-317500" lvl="0" marL="457200" rtl="0" algn="l">
              <a:spcBef>
                <a:spcPts val="1600"/>
              </a:spcBef>
              <a:spcAft>
                <a:spcPts val="0"/>
              </a:spcAft>
              <a:buSzPts val="1400"/>
              <a:buChar char="●"/>
            </a:pPr>
            <a:r>
              <a:rPr lang="en-US" sz="1400"/>
              <a:t>Combination of race,</a:t>
            </a:r>
            <a:r>
              <a:rPr lang="en-US" sz="1400"/>
              <a:t> </a:t>
            </a:r>
            <a:r>
              <a:rPr lang="en-US" sz="1400"/>
              <a:t>language proficiency, and education levels influence earnings over time.</a:t>
            </a:r>
            <a:br>
              <a:rPr lang="en-US" sz="1400"/>
            </a:br>
            <a:endParaRPr sz="1400"/>
          </a:p>
          <a:p>
            <a:pPr indent="-317500" lvl="0" marL="457200" rtl="0" algn="l">
              <a:spcBef>
                <a:spcPts val="0"/>
              </a:spcBef>
              <a:spcAft>
                <a:spcPts val="0"/>
              </a:spcAft>
              <a:buSzPts val="1400"/>
              <a:buChar char="●"/>
            </a:pPr>
            <a:r>
              <a:rPr lang="en-US" sz="1400"/>
              <a:t>Targeted policies and programs can lead to a more equitable and inclusive workforce, benefiting individuals and society.</a:t>
            </a:r>
            <a:endParaRPr sz="1400"/>
          </a:p>
          <a:p>
            <a:pPr indent="0" lvl="0" marL="0" rtl="0" algn="l">
              <a:spcBef>
                <a:spcPts val="1600"/>
              </a:spcBef>
              <a:spcAft>
                <a:spcPts val="0"/>
              </a:spcAft>
              <a:buNone/>
            </a:pPr>
            <a:br>
              <a:rPr lang="en-US" sz="1400"/>
            </a:br>
            <a:r>
              <a:rPr lang="en-US" sz="1400"/>
              <a:t>Limitations</a:t>
            </a:r>
            <a:endParaRPr sz="1400"/>
          </a:p>
          <a:p>
            <a:pPr indent="-317500" lvl="0" marL="457200" rtl="0" algn="l">
              <a:spcBef>
                <a:spcPts val="1600"/>
              </a:spcBef>
              <a:spcAft>
                <a:spcPts val="0"/>
              </a:spcAft>
              <a:buSzPts val="1400"/>
              <a:buChar char="●"/>
            </a:pPr>
            <a:r>
              <a:rPr lang="en-US" sz="1400"/>
              <a:t>Data: Dataset may not fully capture diversity &amp; complexity</a:t>
            </a:r>
            <a:br>
              <a:rPr lang="en-US" sz="1400"/>
            </a:br>
            <a:endParaRPr sz="1400"/>
          </a:p>
          <a:p>
            <a:pPr indent="-317500" lvl="0" marL="457200" rtl="0" algn="l">
              <a:spcBef>
                <a:spcPts val="0"/>
              </a:spcBef>
              <a:spcAft>
                <a:spcPts val="0"/>
              </a:spcAft>
              <a:buSzPts val="1400"/>
              <a:buChar char="●"/>
            </a:pPr>
            <a:r>
              <a:rPr lang="en-US" sz="1400"/>
              <a:t>Causality: Regression analysis shows associations but does not imply causation</a:t>
            </a:r>
            <a:br>
              <a:rPr lang="en-US" sz="1400"/>
            </a:br>
            <a:endParaRPr sz="1400"/>
          </a:p>
          <a:p>
            <a:pPr indent="-317500" lvl="0" marL="457200" rtl="0" algn="l">
              <a:spcBef>
                <a:spcPts val="0"/>
              </a:spcBef>
              <a:spcAft>
                <a:spcPts val="0"/>
              </a:spcAft>
              <a:buSzPts val="1400"/>
              <a:buChar char="●"/>
            </a:pPr>
            <a:r>
              <a:rPr lang="en-US" sz="1400"/>
              <a:t>Sample: May not be fully representative of the entire population, potentially leading to biases in the results.</a:t>
            </a:r>
            <a:endParaRPr sz="1400"/>
          </a:p>
          <a:p>
            <a:pPr indent="0" lvl="0" marL="457200" rtl="0" algn="l">
              <a:spcBef>
                <a:spcPts val="1600"/>
              </a:spcBef>
              <a:spcAft>
                <a:spcPts val="1600"/>
              </a:spcAft>
              <a:buNone/>
            </a:pPr>
            <a:r>
              <a:t/>
            </a:r>
            <a:endParaRPr sz="1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c1eb690462_1_122"/>
          <p:cNvSpPr txBox="1"/>
          <p:nvPr>
            <p:ph type="title"/>
          </p:nvPr>
        </p:nvSpPr>
        <p:spPr>
          <a:xfrm>
            <a:off x="763950" y="30357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Thank you!</a:t>
            </a:r>
            <a:endParaRPr/>
          </a:p>
        </p:txBody>
      </p:sp>
      <p:sp>
        <p:nvSpPr>
          <p:cNvPr id="190" name="Google Shape;190;g2c1eb690462_1_122"/>
          <p:cNvSpPr txBox="1"/>
          <p:nvPr>
            <p:ph idx="1" type="body"/>
          </p:nvPr>
        </p:nvSpPr>
        <p:spPr>
          <a:xfrm>
            <a:off x="763950" y="1943175"/>
            <a:ext cx="10515600" cy="4351200"/>
          </a:xfrm>
          <a:prstGeom prst="rect">
            <a:avLst/>
          </a:prstGeom>
        </p:spPr>
        <p:txBody>
          <a:bodyPr anchorCtr="0" anchor="ctr" bIns="45700" lIns="91425" spcFirstLastPara="1" rIns="91425" wrap="square" tIns="45700">
            <a:normAutofit fontScale="77500" lnSpcReduction="20000"/>
          </a:bodyPr>
          <a:lstStyle/>
          <a:p>
            <a:pPr indent="0" lvl="0" marL="0" rtl="0" algn="ctr">
              <a:lnSpc>
                <a:spcPct val="100000"/>
              </a:lnSpc>
              <a:spcBef>
                <a:spcPts val="0"/>
              </a:spcBef>
              <a:spcAft>
                <a:spcPts val="0"/>
              </a:spcAft>
              <a:buNone/>
            </a:pPr>
            <a:r>
              <a:rPr b="1" lang="en-US" sz="3200">
                <a:latin typeface="Economica"/>
                <a:ea typeface="Economica"/>
                <a:cs typeface="Economica"/>
                <a:sym typeface="Economica"/>
              </a:rPr>
              <a:t>Aditi  - </a:t>
            </a:r>
            <a:r>
              <a:rPr b="1" lang="en-US" sz="3200">
                <a:latin typeface="Economica"/>
                <a:ea typeface="Economica"/>
                <a:cs typeface="Economica"/>
                <a:sym typeface="Economica"/>
              </a:rPr>
              <a:t>Ankit - </a:t>
            </a:r>
            <a:r>
              <a:rPr b="1" lang="en-US" sz="3200">
                <a:latin typeface="Economica"/>
                <a:ea typeface="Economica"/>
                <a:cs typeface="Economica"/>
                <a:sym typeface="Economica"/>
              </a:rPr>
              <a:t>Harsha - </a:t>
            </a:r>
            <a:r>
              <a:rPr b="1" lang="en-US" sz="3200">
                <a:latin typeface="Economica"/>
                <a:ea typeface="Economica"/>
                <a:cs typeface="Economica"/>
                <a:sym typeface="Economica"/>
              </a:rPr>
              <a:t>Saran -  Jayathi - </a:t>
            </a:r>
            <a:r>
              <a:rPr b="1" lang="en-US" sz="3200">
                <a:latin typeface="Economica"/>
                <a:ea typeface="Economica"/>
                <a:cs typeface="Economica"/>
                <a:sym typeface="Economica"/>
              </a:rPr>
              <a:t>Pooja</a:t>
            </a:r>
            <a:br>
              <a:rPr b="1" lang="en-US" sz="3200">
                <a:latin typeface="Economica"/>
                <a:ea typeface="Economica"/>
                <a:cs typeface="Economica"/>
                <a:sym typeface="Economica"/>
              </a:rPr>
            </a:b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Contributions:</a:t>
            </a: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Aditi - Data Exploration and Analysis</a:t>
            </a: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Ankit - Modeling and Insights</a:t>
            </a: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Harsha - Data preprocessing and Modeling </a:t>
            </a: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Saran - Modeling, R code, and Analysis</a:t>
            </a:r>
            <a:endParaRPr b="1" sz="3200">
              <a:latin typeface="Economica"/>
              <a:ea typeface="Economica"/>
              <a:cs typeface="Economica"/>
              <a:sym typeface="Economica"/>
            </a:endParaRPr>
          </a:p>
          <a:p>
            <a:pPr indent="0" lvl="0" marL="0" rtl="0" algn="ctr">
              <a:lnSpc>
                <a:spcPct val="100000"/>
              </a:lnSpc>
              <a:spcBef>
                <a:spcPts val="1600"/>
              </a:spcBef>
              <a:spcAft>
                <a:spcPts val="0"/>
              </a:spcAft>
              <a:buNone/>
            </a:pPr>
            <a:r>
              <a:rPr b="1" lang="en-US" sz="3200">
                <a:latin typeface="Economica"/>
                <a:ea typeface="Economica"/>
                <a:cs typeface="Economica"/>
                <a:sym typeface="Economica"/>
              </a:rPr>
              <a:t>Jayathi - </a:t>
            </a:r>
            <a:r>
              <a:rPr b="1" lang="en-US" sz="3200">
                <a:latin typeface="Economica"/>
                <a:ea typeface="Economica"/>
                <a:cs typeface="Economica"/>
                <a:sym typeface="Economica"/>
              </a:rPr>
              <a:t>Post Processing</a:t>
            </a:r>
            <a:r>
              <a:rPr b="1" lang="en-US" sz="3200">
                <a:latin typeface="Economica"/>
                <a:ea typeface="Economica"/>
                <a:cs typeface="Economica"/>
                <a:sym typeface="Economica"/>
              </a:rPr>
              <a:t> and Interpretations</a:t>
            </a:r>
            <a:endParaRPr b="1" sz="3200">
              <a:latin typeface="Economica"/>
              <a:ea typeface="Economica"/>
              <a:cs typeface="Economica"/>
              <a:sym typeface="Economica"/>
            </a:endParaRPr>
          </a:p>
          <a:p>
            <a:pPr indent="0" lvl="0" marL="0" rtl="0" algn="ctr">
              <a:lnSpc>
                <a:spcPct val="100000"/>
              </a:lnSpc>
              <a:spcBef>
                <a:spcPts val="1600"/>
              </a:spcBef>
              <a:spcAft>
                <a:spcPts val="1600"/>
              </a:spcAft>
              <a:buNone/>
            </a:pPr>
            <a:r>
              <a:rPr b="1" lang="en-US" sz="3200">
                <a:latin typeface="Economica"/>
                <a:ea typeface="Economica"/>
                <a:cs typeface="Economica"/>
                <a:sym typeface="Economica"/>
              </a:rPr>
              <a:t>Pooja - Post Processing and Interpretations</a:t>
            </a:r>
            <a:endParaRPr b="1" sz="3200">
              <a:latin typeface="Economica"/>
              <a:ea typeface="Economica"/>
              <a:cs typeface="Economica"/>
              <a:sym typeface="Economica"/>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2024-03-06T19:25:15Z</dcterms:created>
  <dc:creator>Harsha Handu</dc:creator>
</cp:coreProperties>
</file>